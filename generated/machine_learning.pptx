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688836" cy="685800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23990" y="0"/>
            <a:ext cx="608076" cy="685800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0" y="-731520"/>
            <a:ext cx="3657600" cy="3657600"/>
          </a:xfrm>
          <a:prstGeom prst="ellipse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21040" y="-182879"/>
            <a:ext cx="2560320" cy="2560320"/>
          </a:xfrm>
          <a:prstGeom prst="ellipse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92640" y="3017520"/>
            <a:ext cx="2194560" cy="2194560"/>
          </a:xfrm>
          <a:prstGeom prst="ellipse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21824" y="3346704"/>
            <a:ext cx="1536192" cy="1536192"/>
          </a:xfrm>
          <a:prstGeom prst="ellipse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0" y="4572000"/>
            <a:ext cx="1463040" cy="1463040"/>
          </a:xfrm>
          <a:prstGeom prst="ellipse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4791456"/>
            <a:ext cx="1024127" cy="1024127"/>
          </a:xfrm>
          <a:prstGeom prst="ellipse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4592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A3C4"/>
                </a:solidFill>
                <a:latin typeface="Calibri"/>
              </a:rPr>
              <a:t>AI Generated Presentation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83280"/>
            <a:ext cx="3200400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1996928" cy="132588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274320"/>
            <a:ext cx="594360" cy="59436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83696" y="2926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A4E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is Machine Learning?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115214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91440" cy="502920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Field of AI focused on data-driven predictions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Algorithms learn patterns from data automatically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Enables systems to improve from experience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1996928" cy="132588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274320"/>
            <a:ext cx="594360" cy="59436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83696" y="2926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A4E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Types of Machine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115214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91440" cy="502920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Supervised: learns from labeled data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Unsupervised: finds patterns in unlabeled data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Reinforcement: learns via rewards and penalties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274320"/>
            <a:ext cx="594360" cy="59436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83696" y="2926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A4E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Supervised vs Unsupervised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91440" cy="502920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463040"/>
            <a:ext cx="91440" cy="5029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3C4"/>
                </a:solidFill>
                <a:latin typeface="Calibri"/>
              </a:rPr>
              <a:t>◆  Option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A500"/>
                </a:solidFill>
                <a:latin typeface="Calibri"/>
              </a:rPr>
              <a:t>◆  Option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94560"/>
            <a:ext cx="5257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00A3C4"/>
                </a:solidFill>
                <a:latin typeface="Calibri"/>
              </a:rPr>
              <a:t>▸  </a:t>
            </a:r>
            <a:r>
              <a:rPr sz="1700" b="0">
                <a:solidFill>
                  <a:srgbClr val="1E1E28"/>
                </a:solidFill>
                <a:latin typeface="Calibri"/>
              </a:rPr>
              <a:t>Requires labeled data for training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00A3C4"/>
                </a:solidFill>
                <a:latin typeface="Calibri"/>
              </a:rPr>
              <a:t>▸  </a:t>
            </a:r>
            <a:r>
              <a:rPr sz="1700" b="0">
                <a:solidFill>
                  <a:srgbClr val="1E1E28"/>
                </a:solidFill>
                <a:latin typeface="Calibri"/>
              </a:rPr>
              <a:t>Used for classification and regression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00A3C4"/>
                </a:solidFill>
                <a:latin typeface="Calibri"/>
              </a:rPr>
              <a:t>▸  </a:t>
            </a:r>
            <a:r>
              <a:rPr sz="1700" b="0">
                <a:solidFill>
                  <a:srgbClr val="1E1E28"/>
                </a:solidFill>
                <a:latin typeface="Calibri"/>
              </a:rPr>
              <a:t>Higher accuracy with quality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5257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00A3C4"/>
                </a:solidFill>
                <a:latin typeface="Calibri"/>
              </a:rPr>
              <a:t>▸  </a:t>
            </a:r>
            <a:r>
              <a:rPr sz="1700" b="0">
                <a:solidFill>
                  <a:srgbClr val="1E1E28"/>
                </a:solidFill>
                <a:latin typeface="Calibri"/>
              </a:rPr>
              <a:t>Works with unlabeled data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00A3C4"/>
                </a:solidFill>
                <a:latin typeface="Calibri"/>
              </a:rPr>
              <a:t>▸  </a:t>
            </a:r>
            <a:r>
              <a:rPr sz="1700" b="0">
                <a:solidFill>
                  <a:srgbClr val="1E1E28"/>
                </a:solidFill>
                <a:latin typeface="Calibri"/>
              </a:rPr>
              <a:t>Used for clustering and association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00A3C4"/>
                </a:solidFill>
                <a:latin typeface="Calibri"/>
              </a:rPr>
              <a:t>▸  </a:t>
            </a:r>
            <a:r>
              <a:rPr sz="1700" b="0">
                <a:solidFill>
                  <a:srgbClr val="1E1E28"/>
                </a:solidFill>
                <a:latin typeface="Calibri"/>
              </a:rPr>
              <a:t>Discovers hidden patterns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1996928" cy="132588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274320"/>
            <a:ext cx="594360" cy="59436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83696" y="2926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A4E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Common Algorithms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115214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91440" cy="502920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Linear Regression predicts continuous values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Decision Trees split data by features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Neural Networks mimic brain 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Machine Learning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10698480" cy="54864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76222" y="2660904"/>
            <a:ext cx="585216" cy="58521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76222" y="2660904"/>
            <a:ext cx="585216" cy="585216"/>
          </a:xfrm>
          <a:prstGeom prst="ellipse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93265" y="2777947"/>
            <a:ext cx="351129" cy="351129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7662" y="275234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A4E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2474" y="1645920"/>
            <a:ext cx="2032711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2474" y="1645920"/>
            <a:ext cx="64008" cy="100584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9634" y="1783080"/>
            <a:ext cx="173850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28"/>
                </a:solidFill>
                <a:latin typeface="Calibri"/>
              </a:rPr>
              <a:t>Data Collection</a:t>
            </a:r>
          </a:p>
        </p:txBody>
      </p:sp>
      <p:sp>
        <p:nvSpPr>
          <p:cNvPr id="13" name="Oval 12"/>
          <p:cNvSpPr/>
          <p:nvPr/>
        </p:nvSpPr>
        <p:spPr>
          <a:xfrm>
            <a:off x="4450842" y="2660904"/>
            <a:ext cx="585216" cy="58521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50842" y="2660904"/>
            <a:ext cx="585216" cy="585216"/>
          </a:xfrm>
          <a:prstGeom prst="ellipse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67885" y="2777947"/>
            <a:ext cx="351129" cy="351129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2282" y="275234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A4E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27094" y="3520440"/>
            <a:ext cx="2032711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27094" y="3520440"/>
            <a:ext cx="64008" cy="100584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64254" y="3657600"/>
            <a:ext cx="173850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28"/>
                </a:solidFill>
                <a:latin typeface="Calibri"/>
              </a:rPr>
              <a:t>Data Preparation</a:t>
            </a:r>
          </a:p>
        </p:txBody>
      </p:sp>
      <p:sp>
        <p:nvSpPr>
          <p:cNvPr id="20" name="Oval 19"/>
          <p:cNvSpPr/>
          <p:nvPr/>
        </p:nvSpPr>
        <p:spPr>
          <a:xfrm>
            <a:off x="7125462" y="2660904"/>
            <a:ext cx="585216" cy="58521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5462" y="2660904"/>
            <a:ext cx="585216" cy="585216"/>
          </a:xfrm>
          <a:prstGeom prst="ellipse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42505" y="2777947"/>
            <a:ext cx="351129" cy="351129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16902" y="275234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A4E"/>
                </a:solidFill>
                <a:latin typeface="Calibri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1714" y="1645920"/>
            <a:ext cx="2032711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1714" y="1645920"/>
            <a:ext cx="64008" cy="100584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8874" y="1783080"/>
            <a:ext cx="173850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28"/>
                </a:solidFill>
                <a:latin typeface="Calibri"/>
              </a:rPr>
              <a:t>Model Training</a:t>
            </a:r>
          </a:p>
        </p:txBody>
      </p:sp>
      <p:sp>
        <p:nvSpPr>
          <p:cNvPr id="27" name="Oval 26"/>
          <p:cNvSpPr/>
          <p:nvPr/>
        </p:nvSpPr>
        <p:spPr>
          <a:xfrm>
            <a:off x="9800082" y="2660904"/>
            <a:ext cx="585216" cy="58521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00082" y="2660904"/>
            <a:ext cx="585216" cy="585216"/>
          </a:xfrm>
          <a:prstGeom prst="ellipse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17125" y="2777947"/>
            <a:ext cx="351129" cy="351129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91522" y="275234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A4E"/>
                </a:solidFill>
                <a:latin typeface="Calibri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76334" y="3520440"/>
            <a:ext cx="2032711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76334" y="3520440"/>
            <a:ext cx="64008" cy="100584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13494" y="3657600"/>
            <a:ext cx="173850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28"/>
                </a:solidFill>
                <a:latin typeface="Calibri"/>
              </a:rPr>
              <a:t>Model Evaluation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00A3C4"/>
                </a:solidFill>
                <a:latin typeface="Calibri"/>
              </a:rPr>
              <a:t>▸  </a:t>
            </a:r>
            <a:r>
              <a:rPr sz="1500" b="0">
                <a:solidFill>
                  <a:srgbClr val="1E1E28"/>
                </a:solidFill>
                <a:latin typeface="Calibri"/>
              </a:rPr>
              <a:t>Steps to build and deploy ML models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3657600"/>
            <a:ext cx="4572000" cy="4572000"/>
          </a:xfrm>
          <a:prstGeom prst="ellipse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3657600" cy="3657600"/>
          </a:xfrm>
          <a:prstGeom prst="ellipse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Metric: 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4572000" cy="54864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645920"/>
            <a:ext cx="4572000" cy="3840480"/>
          </a:xfrm>
          <a:prstGeom prst="ellipse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FFA500"/>
                </a:solidFill>
                <a:latin typeface="Calibri"/>
              </a:rPr>
              <a:t>92%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A3C4"/>
                </a:solidFill>
                <a:latin typeface="Calibri"/>
              </a:rPr>
              <a:t>Typical Model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544068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109728" cy="47548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92024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00A3C4"/>
                </a:solidFill>
                <a:latin typeface="Calibri"/>
              </a:rPr>
              <a:t>▸  </a:t>
            </a:r>
            <a:r>
              <a:rPr sz="1700" b="0">
                <a:solidFill>
                  <a:srgbClr val="1E1E28"/>
                </a:solidFill>
                <a:latin typeface="Calibri"/>
              </a:rPr>
              <a:t>Measures correct predictions over total predictions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00A3C4"/>
                </a:solidFill>
                <a:latin typeface="Calibri"/>
              </a:rPr>
              <a:t>▸  </a:t>
            </a:r>
            <a:r>
              <a:rPr sz="1700" b="0">
                <a:solidFill>
                  <a:srgbClr val="1E1E28"/>
                </a:solidFill>
                <a:latin typeface="Calibri"/>
              </a:rPr>
              <a:t>Critical for evaluating model performance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1996928" cy="132588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274320"/>
            <a:ext cx="594360" cy="59436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83696" y="2926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A4E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Applications Across Industries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115214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91440" cy="502920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Healthcare: disease diagnosis and drug discovery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Finance: fraud detection and risk management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Retail: customer recommendations and inventory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1996928" cy="132588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274320"/>
            <a:ext cx="594360" cy="59436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83696" y="2926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A4E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Challenges in Machine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115214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91440" cy="502920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Data quality and availability issues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Model overfitting and underfitting risks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Interpretability and bias concerns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1996928" cy="132588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274320"/>
            <a:ext cx="594360" cy="59436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83696" y="2926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A4E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Future Trends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115214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91440" cy="502920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Explainable AI for better transparency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Automated machine learning (AutoML) growth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Integration with edge computing devices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274320"/>
            <a:ext cx="594360" cy="59436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83696" y="2926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A4E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Machine Learning Benefits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91440" cy="502920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463040"/>
            <a:ext cx="91440" cy="5029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3C4"/>
                </a:solidFill>
                <a:latin typeface="Calibri"/>
              </a:rPr>
              <a:t>◆  Option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A500"/>
                </a:solidFill>
                <a:latin typeface="Calibri"/>
              </a:rPr>
              <a:t>◆  Option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94560"/>
            <a:ext cx="5257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00A3C4"/>
                </a:solidFill>
                <a:latin typeface="Calibri"/>
              </a:rPr>
              <a:t>▸  </a:t>
            </a:r>
            <a:r>
              <a:rPr sz="1700" b="0">
                <a:solidFill>
                  <a:srgbClr val="1E1E28"/>
                </a:solidFill>
                <a:latin typeface="Calibri"/>
              </a:rPr>
              <a:t>Improves decision-making speed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00A3C4"/>
                </a:solidFill>
                <a:latin typeface="Calibri"/>
              </a:rPr>
              <a:t>▸  </a:t>
            </a:r>
            <a:r>
              <a:rPr sz="1700" b="0">
                <a:solidFill>
                  <a:srgbClr val="1E1E28"/>
                </a:solidFill>
                <a:latin typeface="Calibri"/>
              </a:rPr>
              <a:t>Enhances customer experiences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00A3C4"/>
                </a:solidFill>
                <a:latin typeface="Calibri"/>
              </a:rPr>
              <a:t>▸  </a:t>
            </a:r>
            <a:r>
              <a:rPr sz="1700" b="0">
                <a:solidFill>
                  <a:srgbClr val="1E1E28"/>
                </a:solidFill>
                <a:latin typeface="Calibri"/>
              </a:rPr>
              <a:t>Automates repetitive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5257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00A3C4"/>
                </a:solidFill>
                <a:latin typeface="Calibri"/>
              </a:rPr>
              <a:t>▸  </a:t>
            </a:r>
            <a:r>
              <a:rPr sz="1700" b="0">
                <a:solidFill>
                  <a:srgbClr val="1E1E28"/>
                </a:solidFill>
                <a:latin typeface="Calibri"/>
              </a:rPr>
              <a:t>Drives innovation and new products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00A3C4"/>
                </a:solidFill>
                <a:latin typeface="Calibri"/>
              </a:rPr>
              <a:t>▸  </a:t>
            </a:r>
            <a:r>
              <a:rPr sz="1700" b="0">
                <a:solidFill>
                  <a:srgbClr val="1E1E28"/>
                </a:solidFill>
                <a:latin typeface="Calibri"/>
              </a:rPr>
              <a:t>Reduces operational costs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00A3C4"/>
                </a:solidFill>
                <a:latin typeface="Calibri"/>
              </a:rPr>
              <a:t>▸  </a:t>
            </a:r>
            <a:r>
              <a:rPr sz="1700" b="0">
                <a:solidFill>
                  <a:srgbClr val="1E1E28"/>
                </a:solidFill>
                <a:latin typeface="Calibri"/>
              </a:rPr>
              <a:t>Enables data-driven 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0" y="457200"/>
            <a:ext cx="5486400" cy="5486400"/>
          </a:xfrm>
          <a:prstGeom prst="ellipse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1371600"/>
            <a:ext cx="3657600" cy="3657600"/>
          </a:xfrm>
          <a:prstGeom prst="ellipse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926080"/>
            <a:ext cx="3657600" cy="7315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A3C4"/>
                </a:solidFill>
                <a:latin typeface="Calibri"/>
              </a:rPr>
              <a:t>machine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