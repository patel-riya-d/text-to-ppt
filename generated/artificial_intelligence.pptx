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615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688836" cy="6858000"/>
          </a:xfrm>
          <a:prstGeom prst="rect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23990" y="0"/>
            <a:ext cx="608076" cy="6858000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0" y="-731520"/>
            <a:ext cx="3657600" cy="3657600"/>
          </a:xfrm>
          <a:prstGeom prst="ellipse">
            <a:avLst/>
          </a:prstGeom>
          <a:solidFill>
            <a:srgbClr val="00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21040" y="-182879"/>
            <a:ext cx="2560320" cy="2560320"/>
          </a:xfrm>
          <a:prstGeom prst="ellipse">
            <a:avLst/>
          </a:prstGeom>
          <a:solidFill>
            <a:srgbClr val="0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92640" y="3017520"/>
            <a:ext cx="2194560" cy="2194560"/>
          </a:xfrm>
          <a:prstGeom prst="ellipse">
            <a:avLst/>
          </a:prstGeom>
          <a:solidFill>
            <a:srgbClr val="00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21824" y="3346704"/>
            <a:ext cx="1536192" cy="1536192"/>
          </a:xfrm>
          <a:prstGeom prst="ellipse">
            <a:avLst/>
          </a:prstGeom>
          <a:solidFill>
            <a:srgbClr val="0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0" y="4572000"/>
            <a:ext cx="1463040" cy="1463040"/>
          </a:xfrm>
          <a:prstGeom prst="ellipse">
            <a:avLst/>
          </a:prstGeom>
          <a:solidFill>
            <a:srgbClr val="00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49056" y="4791456"/>
            <a:ext cx="1024127" cy="1024127"/>
          </a:xfrm>
          <a:prstGeom prst="ellipse">
            <a:avLst/>
          </a:prstGeom>
          <a:solidFill>
            <a:srgbClr val="0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64592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ARTIFICIAL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661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A3C4"/>
                </a:solidFill>
                <a:latin typeface="Calibri"/>
              </a:rPr>
              <a:t>AI Generated Presentation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83280"/>
            <a:ext cx="3200400" cy="45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1996928" cy="1325880"/>
          </a:xfrm>
          <a:prstGeom prst="rect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274320"/>
            <a:ext cx="594360" cy="59436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83696" y="29260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2A4E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Is Artificial Intelligence?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115214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91440" cy="5029200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700" b="1">
                <a:solidFill>
                  <a:srgbClr val="00A3C4"/>
                </a:solidFill>
                <a:latin typeface="Calibri"/>
              </a:rPr>
              <a:t>▸  </a:t>
            </a:r>
            <a:r>
              <a:rPr sz="1900" b="0">
                <a:solidFill>
                  <a:srgbClr val="1E1E28"/>
                </a:solidFill>
                <a:latin typeface="Calibri"/>
              </a:rPr>
              <a:t>Simulates human intelligence in machines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700" b="1">
                <a:solidFill>
                  <a:srgbClr val="00A3C4"/>
                </a:solidFill>
                <a:latin typeface="Calibri"/>
              </a:rPr>
              <a:t>▸  </a:t>
            </a:r>
            <a:r>
              <a:rPr sz="1900" b="0">
                <a:solidFill>
                  <a:srgbClr val="1E1E28"/>
                </a:solidFill>
                <a:latin typeface="Calibri"/>
              </a:rPr>
              <a:t>Enables learning, reasoning, and problem-solving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700" b="1">
                <a:solidFill>
                  <a:srgbClr val="00A3C4"/>
                </a:solidFill>
                <a:latin typeface="Calibri"/>
              </a:rPr>
              <a:t>▸  </a:t>
            </a:r>
            <a:r>
              <a:rPr sz="1900" b="0">
                <a:solidFill>
                  <a:srgbClr val="1E1E28"/>
                </a:solidFill>
                <a:latin typeface="Calibri"/>
              </a:rPr>
              <a:t>Foundation for automation and smart technologies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286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1996928" cy="1325880"/>
          </a:xfrm>
          <a:prstGeom prst="rect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274320"/>
            <a:ext cx="594360" cy="59436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83696" y="29260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2A4E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AI Categories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115214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91440" cy="5029200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700" b="1">
                <a:solidFill>
                  <a:srgbClr val="00A3C4"/>
                </a:solidFill>
                <a:latin typeface="Calibri"/>
              </a:rPr>
              <a:t>▸  </a:t>
            </a:r>
            <a:r>
              <a:rPr sz="1900" b="0">
                <a:solidFill>
                  <a:srgbClr val="1E1E28"/>
                </a:solidFill>
                <a:latin typeface="Calibri"/>
              </a:rPr>
              <a:t>Narrow AI excels at specific tasks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700" b="1">
                <a:solidFill>
                  <a:srgbClr val="00A3C4"/>
                </a:solidFill>
                <a:latin typeface="Calibri"/>
              </a:rPr>
              <a:t>▸  </a:t>
            </a:r>
            <a:r>
              <a:rPr sz="1900" b="0">
                <a:solidFill>
                  <a:srgbClr val="1E1E28"/>
                </a:solidFill>
                <a:latin typeface="Calibri"/>
              </a:rPr>
              <a:t>General AI matches human cognitive abilities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700" b="1">
                <a:solidFill>
                  <a:srgbClr val="00A3C4"/>
                </a:solidFill>
                <a:latin typeface="Calibri"/>
              </a:rPr>
              <a:t>▸  </a:t>
            </a:r>
            <a:r>
              <a:rPr sz="1900" b="0">
                <a:solidFill>
                  <a:srgbClr val="1E1E28"/>
                </a:solidFill>
                <a:latin typeface="Calibri"/>
              </a:rPr>
              <a:t>Superintelligent AI surpasses human intelligence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286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1325880"/>
          </a:xfrm>
          <a:prstGeom prst="rect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AI Evolution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10698480" cy="54864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76222" y="2660904"/>
            <a:ext cx="585216" cy="58521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76222" y="2660904"/>
            <a:ext cx="585216" cy="585216"/>
          </a:xfrm>
          <a:prstGeom prst="ellipse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93265" y="2777947"/>
            <a:ext cx="351129" cy="351129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7662" y="275234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2A4E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2474" y="1645920"/>
            <a:ext cx="2032711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2474" y="1645920"/>
            <a:ext cx="64008" cy="1005840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9634" y="1783080"/>
            <a:ext cx="1738503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28"/>
                </a:solidFill>
                <a:latin typeface="Calibri"/>
              </a:rPr>
              <a:t>1950s: AI Concept Introduced</a:t>
            </a:r>
          </a:p>
        </p:txBody>
      </p:sp>
      <p:sp>
        <p:nvSpPr>
          <p:cNvPr id="13" name="Oval 12"/>
          <p:cNvSpPr/>
          <p:nvPr/>
        </p:nvSpPr>
        <p:spPr>
          <a:xfrm>
            <a:off x="4450842" y="2660904"/>
            <a:ext cx="585216" cy="58521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50842" y="2660904"/>
            <a:ext cx="585216" cy="585216"/>
          </a:xfrm>
          <a:prstGeom prst="ellipse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67885" y="2777947"/>
            <a:ext cx="351129" cy="351129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2282" y="275234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2A4E"/>
                </a:solidFill>
                <a:latin typeface="Calibri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27094" y="3520440"/>
            <a:ext cx="2032711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27094" y="3520440"/>
            <a:ext cx="64008" cy="1005840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64254" y="3657600"/>
            <a:ext cx="1738503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28"/>
                </a:solidFill>
                <a:latin typeface="Calibri"/>
              </a:rPr>
              <a:t>1980s: Expert Systems Rise</a:t>
            </a:r>
          </a:p>
        </p:txBody>
      </p:sp>
      <p:sp>
        <p:nvSpPr>
          <p:cNvPr id="20" name="Oval 19"/>
          <p:cNvSpPr/>
          <p:nvPr/>
        </p:nvSpPr>
        <p:spPr>
          <a:xfrm>
            <a:off x="7125462" y="2660904"/>
            <a:ext cx="585216" cy="58521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5462" y="2660904"/>
            <a:ext cx="585216" cy="585216"/>
          </a:xfrm>
          <a:prstGeom prst="ellipse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42505" y="2777947"/>
            <a:ext cx="351129" cy="351129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16902" y="275234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2A4E"/>
                </a:solidFill>
                <a:latin typeface="Calibri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1714" y="1645920"/>
            <a:ext cx="2032711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1714" y="1645920"/>
            <a:ext cx="64008" cy="1005840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8874" y="1783080"/>
            <a:ext cx="1738503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28"/>
                </a:solidFill>
                <a:latin typeface="Calibri"/>
              </a:rPr>
              <a:t>2000s: Machine Learning Growth</a:t>
            </a:r>
          </a:p>
        </p:txBody>
      </p:sp>
      <p:sp>
        <p:nvSpPr>
          <p:cNvPr id="27" name="Oval 26"/>
          <p:cNvSpPr/>
          <p:nvPr/>
        </p:nvSpPr>
        <p:spPr>
          <a:xfrm>
            <a:off x="9800082" y="2660904"/>
            <a:ext cx="585216" cy="58521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00082" y="2660904"/>
            <a:ext cx="585216" cy="585216"/>
          </a:xfrm>
          <a:prstGeom prst="ellipse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17125" y="2777947"/>
            <a:ext cx="351129" cy="351129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91522" y="275234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2A4E"/>
                </a:solidFill>
                <a:latin typeface="Calibri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76334" y="3520440"/>
            <a:ext cx="2032711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76334" y="3520440"/>
            <a:ext cx="64008" cy="1005840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13494" y="3657600"/>
            <a:ext cx="1738503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28"/>
                </a:solidFill>
                <a:latin typeface="Calibri"/>
              </a:rPr>
              <a:t>2020s: Deep Learning Advances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00A3C4"/>
                </a:solidFill>
                <a:latin typeface="Calibri"/>
              </a:rPr>
              <a:t>▸  </a:t>
            </a:r>
            <a:r>
              <a:rPr sz="1500" b="0">
                <a:solidFill>
                  <a:srgbClr val="1E1E28"/>
                </a:solidFill>
                <a:latin typeface="Calibri"/>
              </a:rPr>
              <a:t>Key milestones in AI development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286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1325880"/>
          </a:xfrm>
          <a:prstGeom prst="rect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274320"/>
            <a:ext cx="594360" cy="59436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83696" y="29260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2A4E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Machine Learning vs Deep Learning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55778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91440" cy="5029200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463040"/>
            <a:ext cx="55778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463040"/>
            <a:ext cx="91440" cy="5029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A3C4"/>
                </a:solidFill>
                <a:latin typeface="Calibri"/>
              </a:rPr>
              <a:t>◆  Option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A500"/>
                </a:solidFill>
                <a:latin typeface="Calibri"/>
              </a:rPr>
              <a:t>◆  Option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94560"/>
            <a:ext cx="5257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00A3C4"/>
                </a:solidFill>
                <a:latin typeface="Calibri"/>
              </a:rPr>
              <a:t>▸  </a:t>
            </a:r>
            <a:r>
              <a:rPr sz="1700" b="0">
                <a:solidFill>
                  <a:srgbClr val="1E1E28"/>
                </a:solidFill>
                <a:latin typeface="Calibri"/>
              </a:rPr>
              <a:t>ML uses algorithms to learn from data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00A3C4"/>
                </a:solidFill>
                <a:latin typeface="Calibri"/>
              </a:rPr>
              <a:t>▸  </a:t>
            </a:r>
            <a:r>
              <a:rPr sz="1700" b="0">
                <a:solidFill>
                  <a:srgbClr val="1E1E28"/>
                </a:solidFill>
                <a:latin typeface="Calibri"/>
              </a:rPr>
              <a:t>Requires feature engineering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00A3C4"/>
                </a:solidFill>
                <a:latin typeface="Calibri"/>
              </a:rPr>
              <a:t>▸  </a:t>
            </a:r>
            <a:r>
              <a:rPr sz="1700" b="0">
                <a:solidFill>
                  <a:srgbClr val="1E1E28"/>
                </a:solidFill>
                <a:latin typeface="Calibri"/>
              </a:rPr>
              <a:t>Suitable for structured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5257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00A3C4"/>
                </a:solidFill>
                <a:latin typeface="Calibri"/>
              </a:rPr>
              <a:t>▸  </a:t>
            </a:r>
            <a:r>
              <a:rPr sz="1700" b="0">
                <a:solidFill>
                  <a:srgbClr val="1E1E28"/>
                </a:solidFill>
                <a:latin typeface="Calibri"/>
              </a:rPr>
              <a:t>DL uses neural networks with many layers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00A3C4"/>
                </a:solidFill>
                <a:latin typeface="Calibri"/>
              </a:rPr>
              <a:t>▸  </a:t>
            </a:r>
            <a:r>
              <a:rPr sz="1700" b="0">
                <a:solidFill>
                  <a:srgbClr val="1E1E28"/>
                </a:solidFill>
                <a:latin typeface="Calibri"/>
              </a:rPr>
              <a:t>Learns features automatically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00A3C4"/>
                </a:solidFill>
                <a:latin typeface="Calibri"/>
              </a:rPr>
              <a:t>▸  </a:t>
            </a:r>
            <a:r>
              <a:rPr sz="1700" b="0">
                <a:solidFill>
                  <a:srgbClr val="1E1E28"/>
                </a:solidFill>
                <a:latin typeface="Calibri"/>
              </a:rPr>
              <a:t>Excels with unstructured data like images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286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1996928" cy="1325880"/>
          </a:xfrm>
          <a:prstGeom prst="rect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274320"/>
            <a:ext cx="594360" cy="59436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83696" y="29260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2A4E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AI Applications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115214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91440" cy="5029200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700" b="1">
                <a:solidFill>
                  <a:srgbClr val="00A3C4"/>
                </a:solidFill>
                <a:latin typeface="Calibri"/>
              </a:rPr>
              <a:t>▸  </a:t>
            </a:r>
            <a:r>
              <a:rPr sz="1900" b="0">
                <a:solidFill>
                  <a:srgbClr val="1E1E28"/>
                </a:solidFill>
                <a:latin typeface="Calibri"/>
              </a:rPr>
              <a:t>Healthcare: diagnostics and personalized treatments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700" b="1">
                <a:solidFill>
                  <a:srgbClr val="00A3C4"/>
                </a:solidFill>
                <a:latin typeface="Calibri"/>
              </a:rPr>
              <a:t>▸  </a:t>
            </a:r>
            <a:r>
              <a:rPr sz="1900" b="0">
                <a:solidFill>
                  <a:srgbClr val="1E1E28"/>
                </a:solidFill>
                <a:latin typeface="Calibri"/>
              </a:rPr>
              <a:t>Finance: fraud detection and algorithmic trading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700" b="1">
                <a:solidFill>
                  <a:srgbClr val="00A3C4"/>
                </a:solidFill>
                <a:latin typeface="Calibri"/>
              </a:rPr>
              <a:t>▸  </a:t>
            </a:r>
            <a:r>
              <a:rPr sz="1900" b="0">
                <a:solidFill>
                  <a:srgbClr val="1E1E28"/>
                </a:solidFill>
                <a:latin typeface="Calibri"/>
              </a:rPr>
              <a:t>Transportation: autonomous vehicles and routing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286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1996928" cy="1325880"/>
          </a:xfrm>
          <a:prstGeom prst="rect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274320"/>
            <a:ext cx="594360" cy="59436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83696" y="29260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2A4E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AI Benefits for Business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115214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91440" cy="5029200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700" b="1">
                <a:solidFill>
                  <a:srgbClr val="00A3C4"/>
                </a:solidFill>
                <a:latin typeface="Calibri"/>
              </a:rPr>
              <a:t>▸  </a:t>
            </a:r>
            <a:r>
              <a:rPr sz="1900" b="0">
                <a:solidFill>
                  <a:srgbClr val="1E1E28"/>
                </a:solidFill>
                <a:latin typeface="Calibri"/>
              </a:rPr>
              <a:t>Improves efficiency and productivity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700" b="1">
                <a:solidFill>
                  <a:srgbClr val="00A3C4"/>
                </a:solidFill>
                <a:latin typeface="Calibri"/>
              </a:rPr>
              <a:t>▸  </a:t>
            </a:r>
            <a:r>
              <a:rPr sz="1900" b="0">
                <a:solidFill>
                  <a:srgbClr val="1E1E28"/>
                </a:solidFill>
                <a:latin typeface="Calibri"/>
              </a:rPr>
              <a:t>Enhances customer experience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700" b="1">
                <a:solidFill>
                  <a:srgbClr val="00A3C4"/>
                </a:solidFill>
                <a:latin typeface="Calibri"/>
              </a:rPr>
              <a:t>▸  </a:t>
            </a:r>
            <a:r>
              <a:rPr sz="1900" b="0">
                <a:solidFill>
                  <a:srgbClr val="1E1E28"/>
                </a:solidFill>
                <a:latin typeface="Calibri"/>
              </a:rPr>
              <a:t>Supports data-driven decisions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286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1996928" cy="1325880"/>
          </a:xfrm>
          <a:prstGeom prst="rect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274320"/>
            <a:ext cx="594360" cy="59436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83696" y="29260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2A4E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AI Challenges and Risks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115214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91440" cy="5029200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700" b="1">
                <a:solidFill>
                  <a:srgbClr val="00A3C4"/>
                </a:solidFill>
                <a:latin typeface="Calibri"/>
              </a:rPr>
              <a:t>▸  </a:t>
            </a:r>
            <a:r>
              <a:rPr sz="1900" b="0">
                <a:solidFill>
                  <a:srgbClr val="1E1E28"/>
                </a:solidFill>
                <a:latin typeface="Calibri"/>
              </a:rPr>
              <a:t>Data privacy and security concerns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700" b="1">
                <a:solidFill>
                  <a:srgbClr val="00A3C4"/>
                </a:solidFill>
                <a:latin typeface="Calibri"/>
              </a:rPr>
              <a:t>▸  </a:t>
            </a:r>
            <a:r>
              <a:rPr sz="1900" b="0">
                <a:solidFill>
                  <a:srgbClr val="1E1E28"/>
                </a:solidFill>
                <a:latin typeface="Calibri"/>
              </a:rPr>
              <a:t>Bias and fairness in algorithms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700" b="1">
                <a:solidFill>
                  <a:srgbClr val="00A3C4"/>
                </a:solidFill>
                <a:latin typeface="Calibri"/>
              </a:rPr>
              <a:t>▸  </a:t>
            </a:r>
            <a:r>
              <a:rPr sz="1900" b="0">
                <a:solidFill>
                  <a:srgbClr val="1E1E28"/>
                </a:solidFill>
                <a:latin typeface="Calibri"/>
              </a:rPr>
              <a:t>Job displacement fears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286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3657600"/>
            <a:ext cx="4572000" cy="4572000"/>
          </a:xfrm>
          <a:prstGeom prst="ellipse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097280"/>
            <a:ext cx="3657600" cy="3657600"/>
          </a:xfrm>
          <a:prstGeom prst="ellipse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AI Market Growth Statistics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4572000" cy="54864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645920"/>
            <a:ext cx="4572000" cy="3840480"/>
          </a:xfrm>
          <a:prstGeom prst="ellipse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 i="0">
                <a:solidFill>
                  <a:srgbClr val="FFA500"/>
                </a:solidFill>
                <a:latin typeface="Calibri"/>
              </a:rPr>
              <a:t>$136B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A3C4"/>
                </a:solidFill>
                <a:latin typeface="Calibri"/>
              </a:rPr>
              <a:t>Projected AI Market Size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645920"/>
            <a:ext cx="544068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645920"/>
            <a:ext cx="109728" cy="475488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92024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00A3C4"/>
                </a:solidFill>
                <a:latin typeface="Calibri"/>
              </a:rPr>
              <a:t>▸  </a:t>
            </a:r>
            <a:r>
              <a:rPr sz="1700" b="0">
                <a:solidFill>
                  <a:srgbClr val="1E1E28"/>
                </a:solidFill>
                <a:latin typeface="Calibri"/>
              </a:rPr>
              <a:t>Global AI market expanding rapidly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00A3C4"/>
                </a:solidFill>
                <a:latin typeface="Calibri"/>
              </a:rPr>
              <a:t>▸  </a:t>
            </a:r>
            <a:r>
              <a:rPr sz="1700" b="0">
                <a:solidFill>
                  <a:srgbClr val="1E1E28"/>
                </a:solidFill>
                <a:latin typeface="Calibri"/>
              </a:rPr>
              <a:t>Adoption increasing across industries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286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A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0" y="457200"/>
            <a:ext cx="5486400" cy="5486400"/>
          </a:xfrm>
          <a:prstGeom prst="ellipse">
            <a:avLst/>
          </a:prstGeom>
          <a:solidFill>
            <a:srgbClr val="0F4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0" y="1371600"/>
            <a:ext cx="3657600" cy="3657600"/>
          </a:xfrm>
          <a:prstGeom prst="ellipse">
            <a:avLst/>
          </a:prstGeom>
          <a:solidFill>
            <a:srgbClr val="0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926080"/>
            <a:ext cx="3657600" cy="7315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A3C4"/>
                </a:solidFill>
                <a:latin typeface="Calibri"/>
              </a:rPr>
              <a:t>artificial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