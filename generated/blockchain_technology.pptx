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0" y="3200400"/>
            <a:ext cx="4572000" cy="45720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297680"/>
            <a:ext cx="2743200" cy="2743200"/>
          </a:xfrm>
          <a:prstGeom prst="ellipse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BLOCKCHAIN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3399FF"/>
                </a:solidFill>
                <a:latin typeface="Calibri"/>
              </a:rPr>
              <a:t>AI Generated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80" y="45720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45720" cy="685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07007"/>
            <a:ext cx="1216152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Introduction to Blockchain Technology</a:t>
            </a:r>
          </a:p>
        </p:txBody>
      </p:sp>
      <p:sp>
        <p:nvSpPr>
          <p:cNvPr id="7" name="Oval 6"/>
          <p:cNvSpPr/>
          <p:nvPr/>
        </p:nvSpPr>
        <p:spPr>
          <a:xfrm>
            <a:off x="10241280" y="228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51008" y="292608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54480"/>
            <a:ext cx="100126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9738360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Blockchain is a decentralized digital ledger that records transactions across multiple computers to ensure data integrity and security.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It allows information to be stored in blocks that are linked in chronological order, forming an immutable chain.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The technology eliminates the need for intermediaries by enabling peer-to-peer transactions with trust and transparency.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Blockchain supports a variety of applications beyond cryptocurrencies, including supply chain, finance, and identity management.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Its distributed nature makes it highly resilient against tampering, fraud, and hacking attempts.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0" y="18288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743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45720" cy="685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07007"/>
            <a:ext cx="1216152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Core Components of Blockchain</a:t>
            </a:r>
          </a:p>
        </p:txBody>
      </p:sp>
      <p:sp>
        <p:nvSpPr>
          <p:cNvPr id="7" name="Oval 6"/>
          <p:cNvSpPr/>
          <p:nvPr/>
        </p:nvSpPr>
        <p:spPr>
          <a:xfrm>
            <a:off x="10241280" y="228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51008" y="292608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54480"/>
            <a:ext cx="100126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9738360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Blocks contain transaction data, a timestamp, and a cryptographic hash of the previous block to ensure continuity.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Nodes are individual computers that participate in the blockchain network by validating and relaying transactions.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Consensus mechanisms such as Proof of Work or Proof of Stake ensure agreement on the blockchain’s current state.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Cryptography secures data by encrypting transactions and creating digital signatures for authenticity and privacy.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Smart contracts automate predefined conditions to execute transactions instantly without third-party intervention.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0" y="18288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743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45720" cy="685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07007"/>
            <a:ext cx="1216152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Blockchain Works</a:t>
            </a:r>
          </a:p>
        </p:txBody>
      </p:sp>
      <p:sp>
        <p:nvSpPr>
          <p:cNvPr id="7" name="Oval 6"/>
          <p:cNvSpPr/>
          <p:nvPr/>
        </p:nvSpPr>
        <p:spPr>
          <a:xfrm>
            <a:off x="10241280" y="228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51008" y="292608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54480"/>
            <a:ext cx="49149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554480"/>
            <a:ext cx="4914900" cy="4114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18488"/>
            <a:ext cx="47320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Transaction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57400"/>
            <a:ext cx="4732020" cy="4251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399FF"/>
                </a:solidFill>
                <a:latin typeface="Calibri"/>
              </a:rPr>
              <a:t>▸  </a:t>
            </a:r>
            <a:r>
              <a:rPr sz="1400" b="0">
                <a:solidFill>
                  <a:srgbClr val="1E1E1E"/>
                </a:solidFill>
                <a:latin typeface="Calibri"/>
              </a:rPr>
              <a:t>A user initiates a transaction which is broadcast to the network nodes for validation.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399FF"/>
                </a:solidFill>
                <a:latin typeface="Calibri"/>
              </a:rPr>
              <a:t>▸  </a:t>
            </a:r>
            <a:r>
              <a:rPr sz="1400" b="0">
                <a:solidFill>
                  <a:srgbClr val="1E1E1E"/>
                </a:solidFill>
                <a:latin typeface="Calibri"/>
              </a:rPr>
              <a:t>Nodes verify the transaction against existing rules and consensus protocols to prevent fraud.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399FF"/>
                </a:solidFill>
                <a:latin typeface="Calibri"/>
              </a:rPr>
              <a:t>▸  </a:t>
            </a:r>
            <a:r>
              <a:rPr sz="1400" b="0">
                <a:solidFill>
                  <a:srgbClr val="1E1E1E"/>
                </a:solidFill>
                <a:latin typeface="Calibri"/>
              </a:rPr>
              <a:t>Once validated, the transaction is grouped with others into a new block ready for addition.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09260" y="1554480"/>
            <a:ext cx="49149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09260" y="1554480"/>
            <a:ext cx="4914900" cy="41148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00700" y="1618488"/>
            <a:ext cx="47320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Security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0700" y="2057400"/>
            <a:ext cx="4732020" cy="4251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399FF"/>
                </a:solidFill>
                <a:latin typeface="Calibri"/>
              </a:rPr>
              <a:t>▸  </a:t>
            </a:r>
            <a:r>
              <a:rPr sz="1400" b="0">
                <a:solidFill>
                  <a:srgbClr val="1E1E1E"/>
                </a:solidFill>
                <a:latin typeface="Calibri"/>
              </a:rPr>
              <a:t>Each block includes a cryptographic hash linking it to the preceding block, ensuring tamper resistance.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399FF"/>
                </a:solidFill>
                <a:latin typeface="Calibri"/>
              </a:rPr>
              <a:t>▸  </a:t>
            </a:r>
            <a:r>
              <a:rPr sz="1400" b="0">
                <a:solidFill>
                  <a:srgbClr val="1E1E1E"/>
                </a:solidFill>
                <a:latin typeface="Calibri"/>
              </a:rPr>
              <a:t>Decentralization distributes data across many nodes, reducing single points of failure and censorship risks.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399FF"/>
                </a:solidFill>
                <a:latin typeface="Calibri"/>
              </a:rPr>
              <a:t>▸  </a:t>
            </a:r>
            <a:r>
              <a:rPr sz="1400" b="0">
                <a:solidFill>
                  <a:srgbClr val="1E1E1E"/>
                </a:solidFill>
                <a:latin typeface="Calibri"/>
              </a:rPr>
              <a:t>Consensus algorithms prevent malicious actors from altering transaction history without network approval.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0" y="18288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743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45720" cy="685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07007"/>
            <a:ext cx="1216152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Timeline of Blockchain Development</a:t>
            </a:r>
          </a:p>
        </p:txBody>
      </p:sp>
      <p:sp>
        <p:nvSpPr>
          <p:cNvPr id="7" name="Oval 6"/>
          <p:cNvSpPr/>
          <p:nvPr/>
        </p:nvSpPr>
        <p:spPr>
          <a:xfrm>
            <a:off x="10241280" y="228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51008" y="292608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977640"/>
            <a:ext cx="10012680" cy="4572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29868" y="3794760"/>
            <a:ext cx="365760" cy="3657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1308" y="3886200"/>
            <a:ext cx="182880" cy="1828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1733" y="2052828"/>
            <a:ext cx="1602028" cy="1696212"/>
          </a:xfrm>
          <a:prstGeom prst="rect">
            <a:avLst/>
          </a:prstGeom>
          <a:solidFill>
            <a:srgbClr val="FFFFFF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3173" y="2098548"/>
            <a:ext cx="14191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Calibri"/>
              </a:rPr>
              <a:t>2008 - Concept Introduced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173" y="2418588"/>
            <a:ext cx="1419148" cy="12847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Satoshi Nakamoto publishes the Bitcoin whitepaper outlining a decentralized digital currency using blockchain technology.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5316" y="3749040"/>
            <a:ext cx="54864" cy="2286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32404" y="3794760"/>
            <a:ext cx="365760" cy="3657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23844" y="3886200"/>
            <a:ext cx="182880" cy="1828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14269" y="4297680"/>
            <a:ext cx="1602028" cy="1696212"/>
          </a:xfrm>
          <a:prstGeom prst="rect">
            <a:avLst/>
          </a:prstGeom>
          <a:solidFill>
            <a:srgbClr val="FFFFFF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5709" y="4343400"/>
            <a:ext cx="14191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Calibri"/>
              </a:rPr>
              <a:t>2009 - Bitcoin 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5709" y="4663440"/>
            <a:ext cx="1419148" cy="12847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The Bitcoin network goes live, creating the first fully functioning blockchain and cryptocurrency.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7852" y="4023360"/>
            <a:ext cx="54864" cy="320039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34940" y="3794760"/>
            <a:ext cx="365760" cy="3657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26380" y="3886200"/>
            <a:ext cx="182880" cy="1828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16805" y="2052828"/>
            <a:ext cx="1602028" cy="1696212"/>
          </a:xfrm>
          <a:prstGeom prst="rect">
            <a:avLst/>
          </a:prstGeom>
          <a:solidFill>
            <a:srgbClr val="FFFFFF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8245" y="2098548"/>
            <a:ext cx="14191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Calibri"/>
              </a:rPr>
              <a:t>2015 - Ethereum Emerges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8245" y="2418588"/>
            <a:ext cx="1419148" cy="12847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Ethereum introduces smart contracts enabling programmable blockchain applications beyond simple transactions.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0388" y="3749040"/>
            <a:ext cx="54864" cy="2286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37476" y="3794760"/>
            <a:ext cx="365760" cy="3657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28916" y="3886200"/>
            <a:ext cx="182880" cy="1828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19341" y="4297680"/>
            <a:ext cx="1602028" cy="1696212"/>
          </a:xfrm>
          <a:prstGeom prst="rect">
            <a:avLst/>
          </a:prstGeom>
          <a:solidFill>
            <a:srgbClr val="FFFFFF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10781" y="4343400"/>
            <a:ext cx="14191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Calibri"/>
              </a:rPr>
              <a:t>2020 - DeFi Growth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0781" y="4663440"/>
            <a:ext cx="1419148" cy="12847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Decentralized finance platforms leveraging blockchain technology expand rapidly, disrupting traditional financial services.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92924" y="4023360"/>
            <a:ext cx="54864" cy="320039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40012" y="3794760"/>
            <a:ext cx="365760" cy="3657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331452" y="3886200"/>
            <a:ext cx="182880" cy="1828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21877" y="2052828"/>
            <a:ext cx="1602028" cy="1696212"/>
          </a:xfrm>
          <a:prstGeom prst="rect">
            <a:avLst/>
          </a:prstGeom>
          <a:solidFill>
            <a:srgbClr val="FFFFFF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3317" y="2098548"/>
            <a:ext cx="14191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Calibri"/>
              </a:rPr>
              <a:t>2023 - Enterprise Adoption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13317" y="2418588"/>
            <a:ext cx="1419148" cy="12847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Major corporations adopt blockchain for supply chains, identity verification, and secure data sharing.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95460" y="3749040"/>
            <a:ext cx="54864" cy="2286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515600" y="18288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743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45720" cy="685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07007"/>
            <a:ext cx="1216152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Blockchain Benefits for Businesses</a:t>
            </a:r>
          </a:p>
        </p:txBody>
      </p:sp>
      <p:sp>
        <p:nvSpPr>
          <p:cNvPr id="7" name="Oval 6"/>
          <p:cNvSpPr/>
          <p:nvPr/>
        </p:nvSpPr>
        <p:spPr>
          <a:xfrm>
            <a:off x="10241280" y="228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51008" y="292608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54480"/>
            <a:ext cx="100126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9738360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Enhances transparency by providing a shared, immutable ledger accessible to all authorized parties.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Reduces costs by removing intermediaries and streamlining processes through automation and smart contracts.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Improves traceability in supply chains, enabling real-time tracking of goods and provenance verification.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Increases security by leveraging cryptographic methods and decentralized consensus mechanisms.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Drives innovation by enabling new business models like tokenization and decentralized applications.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0" y="18288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743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45720" cy="685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07007"/>
            <a:ext cx="1216152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Challenges Facing Blockchain Technology</a:t>
            </a:r>
          </a:p>
        </p:txBody>
      </p:sp>
      <p:sp>
        <p:nvSpPr>
          <p:cNvPr id="7" name="Oval 6"/>
          <p:cNvSpPr/>
          <p:nvPr/>
        </p:nvSpPr>
        <p:spPr>
          <a:xfrm>
            <a:off x="10241280" y="228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51008" y="292608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54480"/>
            <a:ext cx="100126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9738360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Scalability remains a concern as transaction processing speed lags behind traditional centralized systems.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High energy consumption, particularly with Proof of Work, raises environmental and cost sustainability issues.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Regulatory uncertainty complicates compliance efforts and slows widespread adoption across jurisdictions.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Privacy concerns persist due to the transparent nature of public blockchains despite encryption.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Integration with legacy systems can be complex and costly, hindering seamless implementation.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0" y="18288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743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45720" cy="685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07007"/>
            <a:ext cx="1216152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Blockchain Use Cases Across Industries</a:t>
            </a:r>
          </a:p>
        </p:txBody>
      </p:sp>
      <p:sp>
        <p:nvSpPr>
          <p:cNvPr id="7" name="Oval 6"/>
          <p:cNvSpPr/>
          <p:nvPr/>
        </p:nvSpPr>
        <p:spPr>
          <a:xfrm>
            <a:off x="10241280" y="228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51008" y="292608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54480"/>
            <a:ext cx="4937760" cy="2354580"/>
          </a:xfrm>
          <a:prstGeom prst="rect">
            <a:avLst/>
          </a:prstGeom>
          <a:solidFill>
            <a:srgbClr val="FFFFFF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737360"/>
            <a:ext cx="3291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691640"/>
            <a:ext cx="4069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66CC"/>
                </a:solidFill>
                <a:latin typeface="Calibri"/>
              </a:rPr>
              <a:t>Financial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94560"/>
            <a:ext cx="4663440" cy="15773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Enables fast cross-border payments, fraud reduction, and decentralized finance platforms disrupting banking.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554480"/>
            <a:ext cx="4937760" cy="2354580"/>
          </a:xfrm>
          <a:prstGeom prst="rect">
            <a:avLst/>
          </a:prstGeom>
          <a:solidFill>
            <a:srgbClr val="FFFFFF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23560" y="1691640"/>
            <a:ext cx="457200" cy="4572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737360"/>
            <a:ext cx="3291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691640"/>
            <a:ext cx="4069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66CC"/>
                </a:solidFill>
                <a:latin typeface="Calibri"/>
              </a:rPr>
              <a:t>Supply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194560"/>
            <a:ext cx="4663440" cy="15773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Improves product traceability, transparency, and authenticity verification from origin to consumer delivery.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046220"/>
            <a:ext cx="4937760" cy="2354580"/>
          </a:xfrm>
          <a:prstGeom prst="rect">
            <a:avLst/>
          </a:prstGeom>
          <a:solidFill>
            <a:srgbClr val="FFFFFF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4183380"/>
            <a:ext cx="457200" cy="4572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229100"/>
            <a:ext cx="3291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83380"/>
            <a:ext cx="4069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66CC"/>
                </a:solidFill>
                <a:latin typeface="Calibri"/>
              </a:rPr>
              <a:t>Identity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86300"/>
            <a:ext cx="4663440" cy="15773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Provides secure, user-controlled digital identities reducing identity theft and streamlining verification processes.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4046220"/>
            <a:ext cx="4937760" cy="2354580"/>
          </a:xfrm>
          <a:prstGeom prst="rect">
            <a:avLst/>
          </a:prstGeom>
          <a:solidFill>
            <a:srgbClr val="FFFFFF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23560" y="4183380"/>
            <a:ext cx="457200" cy="4572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87568" y="4229100"/>
            <a:ext cx="3291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183380"/>
            <a:ext cx="4069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66CC"/>
                </a:solidFill>
                <a:latin typeface="Calibri"/>
              </a:rPr>
              <a:t>Healthcare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4686300"/>
            <a:ext cx="4663440" cy="15773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Secures patient records, ensures data interoperability, and enhances drug traceability to prevent counterfeits.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515600" y="18288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743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45720" cy="685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07007"/>
            <a:ext cx="1216152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Public vs Private Blockchains</a:t>
            </a:r>
          </a:p>
        </p:txBody>
      </p:sp>
      <p:sp>
        <p:nvSpPr>
          <p:cNvPr id="7" name="Oval 6"/>
          <p:cNvSpPr/>
          <p:nvPr/>
        </p:nvSpPr>
        <p:spPr>
          <a:xfrm>
            <a:off x="10241280" y="228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51008" y="292608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54480"/>
            <a:ext cx="49149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554480"/>
            <a:ext cx="4914900" cy="4114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18488"/>
            <a:ext cx="47320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Public Blockchain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57400"/>
            <a:ext cx="4732020" cy="4251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399FF"/>
                </a:solidFill>
                <a:latin typeface="Calibri"/>
              </a:rPr>
              <a:t>▸  </a:t>
            </a:r>
            <a:r>
              <a:rPr sz="1400" b="0">
                <a:solidFill>
                  <a:srgbClr val="1E1E1E"/>
                </a:solidFill>
                <a:latin typeface="Calibri"/>
              </a:rPr>
              <a:t>Open to anyone to join, participate, and validate transactions without permission.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399FF"/>
                </a:solidFill>
                <a:latin typeface="Calibri"/>
              </a:rPr>
              <a:t>▸  </a:t>
            </a:r>
            <a:r>
              <a:rPr sz="1400" b="0">
                <a:solidFill>
                  <a:srgbClr val="1E1E1E"/>
                </a:solidFill>
                <a:latin typeface="Calibri"/>
              </a:rPr>
              <a:t>Highly decentralized with broad transparency but potentially slower due to consensus complexity.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399FF"/>
                </a:solidFill>
                <a:latin typeface="Calibri"/>
              </a:rPr>
              <a:t>▸  </a:t>
            </a:r>
            <a:r>
              <a:rPr sz="1400" b="0">
                <a:solidFill>
                  <a:srgbClr val="1E1E1E"/>
                </a:solidFill>
                <a:latin typeface="Calibri"/>
              </a:rPr>
              <a:t>Examples include Bitcoin and Ethereum networks focusing on trustless environments.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09260" y="1554480"/>
            <a:ext cx="49149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09260" y="1554480"/>
            <a:ext cx="4914900" cy="41148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00700" y="1618488"/>
            <a:ext cx="47320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Private Blockchain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0700" y="2057400"/>
            <a:ext cx="4732020" cy="4251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399FF"/>
                </a:solidFill>
                <a:latin typeface="Calibri"/>
              </a:rPr>
              <a:t>▸  </a:t>
            </a:r>
            <a:r>
              <a:rPr sz="1400" b="0">
                <a:solidFill>
                  <a:srgbClr val="1E1E1E"/>
                </a:solidFill>
                <a:latin typeface="Calibri"/>
              </a:rPr>
              <a:t>Restricted access limited to authorized participants controlling participation and data visibility.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399FF"/>
                </a:solidFill>
                <a:latin typeface="Calibri"/>
              </a:rPr>
              <a:t>▸  </a:t>
            </a:r>
            <a:r>
              <a:rPr sz="1400" b="0">
                <a:solidFill>
                  <a:srgbClr val="1E1E1E"/>
                </a:solidFill>
                <a:latin typeface="Calibri"/>
              </a:rPr>
              <a:t>Faster transaction processing with higher efficiency but less decentralization and openness.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399FF"/>
                </a:solidFill>
                <a:latin typeface="Calibri"/>
              </a:rPr>
              <a:t>▸  </a:t>
            </a:r>
            <a:r>
              <a:rPr sz="1400" b="0">
                <a:solidFill>
                  <a:srgbClr val="1E1E1E"/>
                </a:solidFill>
                <a:latin typeface="Calibri"/>
              </a:rPr>
              <a:t>Often used by enterprises for confidential data sharing and internal process optimization.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0" y="18288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743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45720" cy="685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07007"/>
            <a:ext cx="1216152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Trends in Blockchain Technology</a:t>
            </a:r>
          </a:p>
        </p:txBody>
      </p:sp>
      <p:sp>
        <p:nvSpPr>
          <p:cNvPr id="7" name="Oval 6"/>
          <p:cNvSpPr/>
          <p:nvPr/>
        </p:nvSpPr>
        <p:spPr>
          <a:xfrm>
            <a:off x="10241280" y="228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51008" y="292608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54480"/>
            <a:ext cx="100126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9738360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Expansion of Layer 2 solutions to improve scalability and transaction throughput dramatically.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Greater integration with Internet of Things devices enabling secure automated machine-to-machine transactions.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Emerging interoperability protocols facilitating seamless blockchain-to-blockchain communication and asset transfer.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Advancements in zero-knowledge proofs and privacy-enhancing technologies to protect data confidentiality.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3399FF"/>
                </a:solidFill>
                <a:latin typeface="Calibri"/>
              </a:rPr>
              <a:t>▸  </a:t>
            </a:r>
            <a:r>
              <a:rPr sz="1500" b="0">
                <a:solidFill>
                  <a:srgbClr val="1E1E1E"/>
                </a:solidFill>
                <a:latin typeface="Calibri"/>
              </a:rPr>
              <a:t>Growing regulatory clarity fostering broader adoption across financial, governmental, and commercial sectors.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0" y="18288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743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45720" cy="685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07007"/>
            <a:ext cx="1216152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Blockchain Impact Statistics</a:t>
            </a:r>
          </a:p>
        </p:txBody>
      </p:sp>
      <p:sp>
        <p:nvSpPr>
          <p:cNvPr id="7" name="Oval 6"/>
          <p:cNvSpPr/>
          <p:nvPr/>
        </p:nvSpPr>
        <p:spPr>
          <a:xfrm>
            <a:off x="10241280" y="228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51008" y="292608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54480"/>
            <a:ext cx="3200400" cy="4846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 i="0">
                <a:solidFill>
                  <a:srgbClr val="003366"/>
                </a:solidFill>
                <a:latin typeface="Calibri"/>
              </a:rPr>
              <a:t>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3192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Enterprise Blockchain Adoption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1554480"/>
            <a:ext cx="66294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1645920"/>
            <a:ext cx="6355080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399FF"/>
                </a:solidFill>
                <a:latin typeface="Calibri"/>
              </a:rPr>
              <a:t>▸  </a:t>
            </a:r>
            <a:r>
              <a:rPr sz="1400" b="0">
                <a:solidFill>
                  <a:srgbClr val="1E1E1E"/>
                </a:solidFill>
                <a:latin typeface="Calibri"/>
              </a:rPr>
              <a:t>Over 75% of enterprises globally are investing in blockchain technology to innovate operations and enhance security.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399FF"/>
                </a:solidFill>
                <a:latin typeface="Calibri"/>
              </a:rPr>
              <a:t>▸  </a:t>
            </a:r>
            <a:r>
              <a:rPr sz="1400" b="0">
                <a:solidFill>
                  <a:srgbClr val="1E1E1E"/>
                </a:solidFill>
                <a:latin typeface="Calibri"/>
              </a:rPr>
              <a:t>By 2025, blockchain is expected to generate over $176 billion in business value across industries.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399FF"/>
                </a:solidFill>
                <a:latin typeface="Calibri"/>
              </a:rPr>
              <a:t>▸  </a:t>
            </a:r>
            <a:r>
              <a:rPr sz="1400" b="0">
                <a:solidFill>
                  <a:srgbClr val="1E1E1E"/>
                </a:solidFill>
                <a:latin typeface="Calibri"/>
              </a:rPr>
              <a:t>DeFi platforms saw a surge from $1 billion in 2019 to over $80 billion in total value locked by 2023.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399FF"/>
                </a:solidFill>
                <a:latin typeface="Calibri"/>
              </a:rPr>
              <a:t>▸  </a:t>
            </a:r>
            <a:r>
              <a:rPr sz="1400" b="0">
                <a:solidFill>
                  <a:srgbClr val="1E1E1E"/>
                </a:solidFill>
                <a:latin typeface="Calibri"/>
              </a:rPr>
              <a:t>Supply chain blockchain solutions have reduced counterfeit goods by up to 30% in pilot programs.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399FF"/>
                </a:solidFill>
                <a:latin typeface="Calibri"/>
              </a:rPr>
              <a:t>▸  </a:t>
            </a:r>
            <a:r>
              <a:rPr sz="1400" b="0">
                <a:solidFill>
                  <a:srgbClr val="1E1E1E"/>
                </a:solidFill>
                <a:latin typeface="Calibri"/>
              </a:rPr>
              <a:t>Up to 90% of surveyed companies report blockchain improved transparency and auditability in their processes.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0" y="18288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743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89520" y="2286000"/>
            <a:ext cx="5486400" cy="54864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657600"/>
            <a:ext cx="3200400" cy="3200400"/>
          </a:xfrm>
          <a:prstGeom prst="ellipse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3399FF"/>
                </a:solidFill>
                <a:latin typeface="Calibri"/>
              </a:rPr>
              <a:t>blockchain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64646E"/>
                </a:solidFill>
                <a:latin typeface="Calibri"/>
              </a:rPr>
              <a:t>Powered by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80" y="45720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