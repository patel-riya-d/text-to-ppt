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053681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32066" y="0"/>
            <a:ext cx="54864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61520" cy="9144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0" y="-640080"/>
            <a:ext cx="4023360" cy="4023360"/>
          </a:xfrm>
          <a:prstGeom prst="ellipse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50808" y="64007"/>
            <a:ext cx="2615184" cy="2615184"/>
          </a:xfrm>
          <a:prstGeom prst="ellipse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60" y="3200400"/>
            <a:ext cx="2743200" cy="2743200"/>
          </a:xfrm>
          <a:prstGeom prst="ellipse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47020" y="3680460"/>
            <a:ext cx="1783080" cy="1783080"/>
          </a:xfrm>
          <a:prstGeom prst="ellipse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0" y="4754880"/>
            <a:ext cx="1828800" cy="1828800"/>
          </a:xfrm>
          <a:prstGeom prst="ellipse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32519" y="5074920"/>
            <a:ext cx="1188720" cy="1188720"/>
          </a:xfrm>
          <a:prstGeom prst="ellipse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onsolas"/>
              </a:rPr>
              <a:t>DEEP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8DC"/>
                </a:solidFill>
                <a:latin typeface="Calibri"/>
              </a:rPr>
              <a:t>AI Generated 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0" y="182880"/>
            <a:ext cx="1005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65176"/>
            <a:ext cx="73152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256032"/>
            <a:ext cx="658368" cy="658368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62488" y="274320"/>
            <a:ext cx="621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What is Deep Learning?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463040"/>
            <a:ext cx="11722608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63040"/>
            <a:ext cx="109728" cy="49377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45920"/>
            <a:ext cx="11201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Deep learning is a subset of machine learning focused on neural networks with multiple layers for complex data representation.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It mimics the human brain’s architecture to automatically learn hierarchical feature representations from raw data.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Commonly used for tasks like image recognition, natural language processing, and autonomous systems.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Enables computers to identify patterns and make decisions without explicit programming.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0" y="182880"/>
            <a:ext cx="1005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65176"/>
            <a:ext cx="73152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256032"/>
            <a:ext cx="658368" cy="658368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62488" y="274320"/>
            <a:ext cx="621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How Deep Neural Networks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463040"/>
            <a:ext cx="11722608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63040"/>
            <a:ext cx="109728" cy="49377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45920"/>
            <a:ext cx="11201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Deep neural networks consist of input, hidden, and output layers that transform data progressively through weighted connections.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Each neuron applies an activation function to introduce non-linearity, enabling the model to learn complex patterns.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Backpropagation is used to minimize errors by adjusting weights based on output deviations during training.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Networks learn feature hierarchies automatically, from low-level edges to high-level concepts in images or 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0" y="182880"/>
            <a:ext cx="1005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65176"/>
            <a:ext cx="73152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256032"/>
            <a:ext cx="658368" cy="658368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62488" y="274320"/>
            <a:ext cx="621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Key Architectures in Deep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554480"/>
            <a:ext cx="58293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554480"/>
            <a:ext cx="91440" cy="242316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4632" y="2382012"/>
            <a:ext cx="768096" cy="768096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2455164"/>
            <a:ext cx="694944" cy="61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664207"/>
            <a:ext cx="45765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932"/>
                </a:solidFill>
                <a:latin typeface="Consolas"/>
              </a:rPr>
              <a:t>CNNs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84831"/>
            <a:ext cx="457657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E32"/>
                </a:solidFill>
                <a:latin typeface="Calibri"/>
              </a:rPr>
              <a:t>Designed for visual data, capturing spatial features through convolutional filters.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2492" y="1554480"/>
            <a:ext cx="58293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2492" y="1554480"/>
            <a:ext cx="91440" cy="24231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51092" y="2382012"/>
            <a:ext cx="768096" cy="768096"/>
          </a:xfrm>
          <a:prstGeom prst="ellipse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7668" y="2455164"/>
            <a:ext cx="694944" cy="61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3780" y="1664207"/>
            <a:ext cx="45765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932"/>
                </a:solidFill>
                <a:latin typeface="Consolas"/>
              </a:rPr>
              <a:t>RNNs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3780" y="2084831"/>
            <a:ext cx="457657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E32"/>
                </a:solidFill>
                <a:latin typeface="Calibri"/>
              </a:rPr>
              <a:t>Processes sequential data by maintaining memory of previous inputs.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4069080"/>
            <a:ext cx="58293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4069080"/>
            <a:ext cx="91440" cy="242316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32" y="4896612"/>
            <a:ext cx="768096" cy="768096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4969764"/>
            <a:ext cx="694944" cy="61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178808"/>
            <a:ext cx="45765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932"/>
                </a:solidFill>
                <a:latin typeface="Consolas"/>
              </a:rPr>
              <a:t>Transformers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599432"/>
            <a:ext cx="457657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E32"/>
                </a:solidFill>
                <a:latin typeface="Calibri"/>
              </a:rPr>
              <a:t>Uses self-attention to model long-range dependencies efficiently.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2492" y="4069080"/>
            <a:ext cx="58293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4069080"/>
            <a:ext cx="91440" cy="242316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51092" y="4896612"/>
            <a:ext cx="768096" cy="768096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7668" y="4969764"/>
            <a:ext cx="694944" cy="61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3780" y="4178808"/>
            <a:ext cx="45765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932"/>
                </a:solidFill>
                <a:latin typeface="Consolas"/>
              </a:rPr>
              <a:t>Autoencoders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3780" y="4599432"/>
            <a:ext cx="4576572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E32"/>
                </a:solidFill>
                <a:latin typeface="Calibri"/>
              </a:rPr>
              <a:t>Learns compressed representations for unsupervised feature extraction.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182880"/>
            <a:ext cx="1005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65176"/>
            <a:ext cx="73152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256032"/>
            <a:ext cx="658368" cy="658368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62488" y="274320"/>
            <a:ext cx="621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Deep Learning vs Traditional ML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508760"/>
            <a:ext cx="564642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508760"/>
            <a:ext cx="109728" cy="489204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508760"/>
            <a:ext cx="5646420" cy="4572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563624"/>
            <a:ext cx="54178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Traditional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75688"/>
            <a:ext cx="53263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00C8DC"/>
                </a:solidFill>
                <a:latin typeface="Calibri"/>
              </a:rPr>
              <a:t>▸  </a:t>
            </a:r>
            <a:r>
              <a:rPr sz="1500" b="0">
                <a:solidFill>
                  <a:srgbClr val="141E32"/>
                </a:solidFill>
                <a:latin typeface="Calibri"/>
              </a:rPr>
              <a:t>Relies heavily on manual feature engineering and domain expertise for good performance.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00C8DC"/>
                </a:solidFill>
                <a:latin typeface="Calibri"/>
              </a:rPr>
              <a:t>▸  </a:t>
            </a:r>
            <a:r>
              <a:rPr sz="1500" b="0">
                <a:solidFill>
                  <a:srgbClr val="141E32"/>
                </a:solidFill>
                <a:latin typeface="Calibri"/>
              </a:rPr>
              <a:t>Models often shallow with fewer parameters, limiting ability to learn complex data patterns.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00C8DC"/>
                </a:solidFill>
                <a:latin typeface="Calibri"/>
              </a:rPr>
              <a:t>▸  </a:t>
            </a:r>
            <a:r>
              <a:rPr sz="1500" b="0">
                <a:solidFill>
                  <a:srgbClr val="141E32"/>
                </a:solidFill>
                <a:latin typeface="Calibri"/>
              </a:rPr>
              <a:t>Requires less computational power and smaller datasets compared to deep learning.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64642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109728" cy="489204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646420" cy="4572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63624"/>
            <a:ext cx="54178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075688"/>
            <a:ext cx="53263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00C8DC"/>
                </a:solidFill>
                <a:latin typeface="Calibri"/>
              </a:rPr>
              <a:t>▸  </a:t>
            </a:r>
            <a:r>
              <a:rPr sz="1500" b="0">
                <a:solidFill>
                  <a:srgbClr val="141E32"/>
                </a:solidFill>
                <a:latin typeface="Calibri"/>
              </a:rPr>
              <a:t>Automatically extracts features through multiple representation layers without manual intervention.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00C8DC"/>
                </a:solidFill>
                <a:latin typeface="Calibri"/>
              </a:rPr>
              <a:t>▸  </a:t>
            </a:r>
            <a:r>
              <a:rPr sz="1500" b="0">
                <a:solidFill>
                  <a:srgbClr val="141E32"/>
                </a:solidFill>
                <a:latin typeface="Calibri"/>
              </a:rPr>
              <a:t>Uses deep architectures with millions of parameters, enabling learning of intricate data relationships.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00C8DC"/>
                </a:solidFill>
                <a:latin typeface="Calibri"/>
              </a:rPr>
              <a:t>▸  </a:t>
            </a:r>
            <a:r>
              <a:rPr sz="1500" b="0">
                <a:solidFill>
                  <a:srgbClr val="141E32"/>
                </a:solidFill>
                <a:latin typeface="Calibri"/>
              </a:rPr>
              <a:t>Demands large labeled datasets and significant computational resources like GPUs for training.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0" y="182880"/>
            <a:ext cx="1005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65176"/>
            <a:ext cx="73152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256032"/>
            <a:ext cx="658368" cy="658368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62488" y="274320"/>
            <a:ext cx="621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Applications Transforming Industries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463040"/>
            <a:ext cx="11722608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63040"/>
            <a:ext cx="109728" cy="49377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45920"/>
            <a:ext cx="11201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Healthcare uses deep learning for medical imaging diagnostics, drug discovery, and personalized treatment plans.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Finance applies it in fraud detection, algorithmic trading, and customer risk assessment models.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Autonomous vehicles rely on deep learning for perception, decision-making, and navigation in complex environments.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Natural language assistants improve through deep learning-driven speech recognition and language understanding.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0" y="182880"/>
            <a:ext cx="1005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65176"/>
            <a:ext cx="73152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256032"/>
            <a:ext cx="658368" cy="658368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62488" y="274320"/>
            <a:ext cx="621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Training Deep Learning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463040"/>
            <a:ext cx="11722608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63040"/>
            <a:ext cx="109728" cy="49377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45920"/>
            <a:ext cx="11201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Training involves feeding large datasets through networks to optimize weights using gradient descent algorithms.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Regularization techniques like dropout prevent overfitting by randomly disabling neurons during training.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Batch normalization stabilizes learning by normalizing inputs within network layers, improving speed and accuracy.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Hyperparameter tuning is critical for model performance, involving learning rates, batch sizes, and architecture design.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0" y="182880"/>
            <a:ext cx="1005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65176"/>
            <a:ext cx="73152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256032"/>
            <a:ext cx="658368" cy="658368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62488" y="274320"/>
            <a:ext cx="621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Challenges in Deep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463040"/>
            <a:ext cx="11722608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63040"/>
            <a:ext cx="109728" cy="49377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45920"/>
            <a:ext cx="11201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Requires massive labeled datasets, which can be expensive or impractical to obtain for many applications.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High computational demands lead to increased energy consumption and environmental concerns.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Model interpretability remains limited, making it difficult to explain decisions to end-users or regulators.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Susceptible to adversarial attacks where small input changes can drastically alter outputs.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0" y="182880"/>
            <a:ext cx="1005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65176"/>
            <a:ext cx="73152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256032"/>
            <a:ext cx="658368" cy="658368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62488" y="274320"/>
            <a:ext cx="621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Recent Breakthroughs &amp; Trends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463040"/>
            <a:ext cx="11722608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63040"/>
            <a:ext cx="109728" cy="49377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45920"/>
            <a:ext cx="11201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Self-supervised learning reduces dependency on labeled data by leveraging unlabeled data for pretraining.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Transformer architectures dominate NLP with models like GPT and BERT enabling advanced language understanding.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Multimodal models combine vision, text, and audio inputs for richer AI capabilities.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Efforts to improve energy efficiency and model compression enable deployment on edge devices.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0" y="182880"/>
            <a:ext cx="1005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65176"/>
            <a:ext cx="73152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256032"/>
            <a:ext cx="658368" cy="658368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62488" y="274320"/>
            <a:ext cx="621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Deep Learning Development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91840"/>
            <a:ext cx="10515600" cy="64008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9938" y="2976372"/>
            <a:ext cx="694944" cy="694944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36241" y="3122676"/>
            <a:ext cx="402336" cy="402336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881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F23"/>
                </a:solidFill>
                <a:latin typeface="Consola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9978" y="2880360"/>
            <a:ext cx="54864" cy="64008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9561" y="1280160"/>
            <a:ext cx="215569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9561" y="1280160"/>
            <a:ext cx="82296" cy="16002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4153" y="1371600"/>
            <a:ext cx="19270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2"/>
                </a:solidFill>
                <a:latin typeface="Consolas"/>
              </a:rPr>
              <a:t>1940s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4153" y="1847088"/>
            <a:ext cx="192709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Foundations laid with early neural network concepts inspired by biological neurons.</a:t>
            </a:r>
          </a:p>
        </p:txBody>
      </p:sp>
      <p:sp>
        <p:nvSpPr>
          <p:cNvPr id="16" name="Oval 15"/>
          <p:cNvSpPr/>
          <p:nvPr/>
        </p:nvSpPr>
        <p:spPr>
          <a:xfrm>
            <a:off x="4418838" y="2976372"/>
            <a:ext cx="694944" cy="694944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65142" y="3122676"/>
            <a:ext cx="402336" cy="402336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771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F23"/>
                </a:solidFill>
                <a:latin typeface="Consolas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8878" y="3639312"/>
            <a:ext cx="54864" cy="246887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88461" y="3886200"/>
            <a:ext cx="215569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88461" y="3886200"/>
            <a:ext cx="82296" cy="16002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3053" y="3977639"/>
            <a:ext cx="19270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2"/>
                </a:solidFill>
                <a:latin typeface="Consolas"/>
              </a:rPr>
              <a:t>1980s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3053" y="4453128"/>
            <a:ext cx="192709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Backpropagation algorithm popularized, enabling effective training of multilayer networks.</a:t>
            </a:r>
          </a:p>
        </p:txBody>
      </p:sp>
      <p:sp>
        <p:nvSpPr>
          <p:cNvPr id="24" name="Oval 23"/>
          <p:cNvSpPr/>
          <p:nvPr/>
        </p:nvSpPr>
        <p:spPr>
          <a:xfrm>
            <a:off x="7047738" y="2976372"/>
            <a:ext cx="694944" cy="694944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94042" y="3122676"/>
            <a:ext cx="402336" cy="402336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6661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F23"/>
                </a:solidFill>
                <a:latin typeface="Consolas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7778" y="2880360"/>
            <a:ext cx="54864" cy="64008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17361" y="1280160"/>
            <a:ext cx="215569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17361" y="1280160"/>
            <a:ext cx="82296" cy="16002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1953" y="1371600"/>
            <a:ext cx="19270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2"/>
                </a:solidFill>
                <a:latin typeface="Consolas"/>
              </a:rPr>
              <a:t>2010s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1953" y="1847088"/>
            <a:ext cx="192709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Deep learning breakthroughs with large datasets and GPUs sparked rapid advancement and adoption.</a:t>
            </a:r>
          </a:p>
        </p:txBody>
      </p:sp>
      <p:sp>
        <p:nvSpPr>
          <p:cNvPr id="32" name="Oval 31"/>
          <p:cNvSpPr/>
          <p:nvPr/>
        </p:nvSpPr>
        <p:spPr>
          <a:xfrm>
            <a:off x="9676638" y="2976372"/>
            <a:ext cx="694944" cy="694944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22942" y="3122676"/>
            <a:ext cx="402336" cy="402336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9551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F23"/>
                </a:solidFill>
                <a:latin typeface="Consolas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96678" y="3639312"/>
            <a:ext cx="54864" cy="246887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46261" y="3886200"/>
            <a:ext cx="215569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46261" y="3886200"/>
            <a:ext cx="82296" cy="16002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0853" y="3977639"/>
            <a:ext cx="19270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2"/>
                </a:solidFill>
                <a:latin typeface="Consolas"/>
              </a:rPr>
              <a:t>2020s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0853" y="4453128"/>
            <a:ext cx="192709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Emergence of large-scale transformers and self-supervised learning reshaping AI capabilities.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972800" y="182880"/>
            <a:ext cx="1005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65176"/>
            <a:ext cx="73152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256032"/>
            <a:ext cx="658368" cy="658368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62488" y="274320"/>
            <a:ext cx="621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28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Future of Deep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463040"/>
            <a:ext cx="11722608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463040"/>
            <a:ext cx="109728" cy="49377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45920"/>
            <a:ext cx="11201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Integration with symbolic reasoning aims to combine neural networks with logical inference for better understanding.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Advances expected in explainability to enhance trust and regulatory acceptance of AI systems.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Quantum computing may accelerate training times and unlock new model architectures.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Expansion into real-time, personalized AI across industries will drive innovative products and services.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0" y="182880"/>
            <a:ext cx="10058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65176"/>
            <a:ext cx="73152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-914400"/>
            <a:ext cx="5943600" cy="5943600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21040" y="274320"/>
            <a:ext cx="3657600" cy="3657600"/>
          </a:xfrm>
          <a:prstGeom prst="ellipse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onsola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C8DC"/>
                </a:solidFill>
                <a:latin typeface="Calibri"/>
              </a:rPr>
              <a:t>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A0"/>
                </a:solidFill>
                <a:latin typeface="Calibri"/>
              </a:rPr>
              <a:t>Powered by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98480" y="5394960"/>
            <a:ext cx="118872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55321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