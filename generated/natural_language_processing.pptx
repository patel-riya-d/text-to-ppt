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053681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49643" y="0"/>
            <a:ext cx="54864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61520" cy="9144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0" y="-640080"/>
            <a:ext cx="4023360" cy="4023360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67928" y="64007"/>
            <a:ext cx="2615184" cy="2615184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3200400"/>
            <a:ext cx="2743200" cy="2743200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64140" y="3680460"/>
            <a:ext cx="1783080" cy="1783080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0" y="4754880"/>
            <a:ext cx="1828800" cy="1828800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549640" y="5074920"/>
            <a:ext cx="1188720" cy="1188720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6459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onsolas"/>
              </a:rPr>
              <a:t>NATURAL LANGUAGE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C8DC"/>
                </a:solidFill>
                <a:latin typeface="Calibri"/>
              </a:rPr>
              <a:t>AI Generated Presentation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40" y="5852160"/>
            <a:ext cx="173736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5897880"/>
            <a:ext cx="155448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Understanding Natural Language Processing</a:t>
            </a:r>
          </a:p>
        </p:txBody>
      </p:sp>
      <p:sp>
        <p:nvSpPr>
          <p:cNvPr id="5" name="Oval 4"/>
          <p:cNvSpPr/>
          <p:nvPr/>
        </p:nvSpPr>
        <p:spPr>
          <a:xfrm>
            <a:off x="10698480" y="256032"/>
            <a:ext cx="640080" cy="64008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658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Natural Language Processing (NLP) is a subfield of AI focused on enabling machines to understand and interpret human language.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NLP combines computational linguistics, machine learning, and deep learning to process and analyze large amounts of natural language data.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It enables applications like language translation, sentiment analysis, chatbots, and voice assistants by interpreting textual or spoken inputs.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The complexity arises from nuances such as context, ambiguity, idioms, and diverse language structures across cultures.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Historical Evolution of NLP</a:t>
            </a:r>
          </a:p>
        </p:txBody>
      </p:sp>
      <p:sp>
        <p:nvSpPr>
          <p:cNvPr id="5" name="Oval 4"/>
          <p:cNvSpPr/>
          <p:nvPr/>
        </p:nvSpPr>
        <p:spPr>
          <a:xfrm>
            <a:off x="10698480" y="256032"/>
            <a:ext cx="640080" cy="64008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10515600" cy="64008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89938" y="2976372"/>
            <a:ext cx="694944" cy="694944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36241" y="3122676"/>
            <a:ext cx="402336" cy="40233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0881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F23"/>
                </a:solidFill>
                <a:latin typeface="Consolas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09978" y="2880360"/>
            <a:ext cx="54864" cy="64007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9561" y="1325880"/>
            <a:ext cx="21556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9561" y="1325880"/>
            <a:ext cx="82296" cy="155448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4153" y="1417320"/>
            <a:ext cx="19270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2"/>
                </a:solidFill>
                <a:latin typeface="Consolas"/>
              </a:rPr>
              <a:t>1950s: Early Symbolic Systems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4153" y="1874520"/>
            <a:ext cx="19270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Initial rule-based systems focused on symbolic manipulation and pattern matching in language tasks.</a:t>
            </a:r>
          </a:p>
        </p:txBody>
      </p:sp>
      <p:sp>
        <p:nvSpPr>
          <p:cNvPr id="16" name="Oval 15"/>
          <p:cNvSpPr/>
          <p:nvPr/>
        </p:nvSpPr>
        <p:spPr>
          <a:xfrm>
            <a:off x="4418838" y="2976372"/>
            <a:ext cx="694944" cy="694944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65142" y="3122676"/>
            <a:ext cx="402336" cy="40233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771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F23"/>
                </a:solidFill>
                <a:latin typeface="Consolas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38878" y="3639312"/>
            <a:ext cx="54864" cy="246887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88461" y="3886200"/>
            <a:ext cx="21556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88461" y="3886200"/>
            <a:ext cx="82296" cy="155448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53053" y="3977639"/>
            <a:ext cx="19270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2"/>
                </a:solidFill>
                <a:latin typeface="Consolas"/>
              </a:rPr>
              <a:t>1980s: Statistical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53053" y="4434840"/>
            <a:ext cx="19270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Shift to probabilistic models like Hidden Markov Models improved language understanding from data.</a:t>
            </a:r>
          </a:p>
        </p:txBody>
      </p:sp>
      <p:sp>
        <p:nvSpPr>
          <p:cNvPr id="24" name="Oval 23"/>
          <p:cNvSpPr/>
          <p:nvPr/>
        </p:nvSpPr>
        <p:spPr>
          <a:xfrm>
            <a:off x="7047738" y="2976372"/>
            <a:ext cx="694944" cy="694944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94042" y="3122676"/>
            <a:ext cx="402336" cy="40233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6661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F23"/>
                </a:solidFill>
                <a:latin typeface="Consolas"/>
              </a:rPr>
              <a:t>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67778" y="2880360"/>
            <a:ext cx="54864" cy="64007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17361" y="1325880"/>
            <a:ext cx="21556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17361" y="1325880"/>
            <a:ext cx="82296" cy="155448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1953" y="1417320"/>
            <a:ext cx="19270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2"/>
                </a:solidFill>
                <a:latin typeface="Consolas"/>
              </a:rPr>
              <a:t>2010s: Deep Learning Era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1953" y="1874520"/>
            <a:ext cx="19270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Deep neural networks and word embeddings revolutionized NLP with better context and semantic comprehension.</a:t>
            </a:r>
          </a:p>
        </p:txBody>
      </p:sp>
      <p:sp>
        <p:nvSpPr>
          <p:cNvPr id="32" name="Oval 31"/>
          <p:cNvSpPr/>
          <p:nvPr/>
        </p:nvSpPr>
        <p:spPr>
          <a:xfrm>
            <a:off x="9676638" y="2976372"/>
            <a:ext cx="694944" cy="694944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822942" y="3122676"/>
            <a:ext cx="402336" cy="40233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95510" y="30906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0F23"/>
                </a:solidFill>
                <a:latin typeface="Consolas"/>
              </a:rPr>
              <a:t>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96678" y="3639312"/>
            <a:ext cx="54864" cy="246887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46261" y="3886200"/>
            <a:ext cx="2155698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46261" y="3886200"/>
            <a:ext cx="82296" cy="155448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10853" y="3977639"/>
            <a:ext cx="192709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1932"/>
                </a:solidFill>
                <a:latin typeface="Consolas"/>
              </a:rPr>
              <a:t>2020s: Large Language Models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0853" y="4434840"/>
            <a:ext cx="1927098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41E32"/>
                </a:solidFill>
                <a:latin typeface="Calibri"/>
              </a:rPr>
              <a:t>Transformer architectures enabled models like GPT, achieving unprecedented fluency and versatility in language tasks.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Core Components of NLP Systems</a:t>
            </a:r>
          </a:p>
        </p:txBody>
      </p:sp>
      <p:sp>
        <p:nvSpPr>
          <p:cNvPr id="5" name="Oval 4"/>
          <p:cNvSpPr/>
          <p:nvPr/>
        </p:nvSpPr>
        <p:spPr>
          <a:xfrm>
            <a:off x="10698480" y="256032"/>
            <a:ext cx="640080" cy="64008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658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Tokenization breaks text into words or phrases, serving as the foundation for further processing.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Part-of-Speech Tagging assigns grammatical categories to words, essential for syntactic analysis and parsing.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Named Entity Recognition identifies real-world objects like names, dates, and locations within the text.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Sentiment Analysis evaluates subjective information to determine emotional tone or opinion.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Traditional vs Modern NLP Techniques</a:t>
            </a:r>
          </a:p>
        </p:txBody>
      </p:sp>
      <p:sp>
        <p:nvSpPr>
          <p:cNvPr id="5" name="Oval 4"/>
          <p:cNvSpPr/>
          <p:nvPr/>
        </p:nvSpPr>
        <p:spPr>
          <a:xfrm>
            <a:off x="10698480" y="256032"/>
            <a:ext cx="640080" cy="64008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508760"/>
            <a:ext cx="557784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508760"/>
            <a:ext cx="109728" cy="489204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08760"/>
            <a:ext cx="5577840" cy="4892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508760"/>
            <a:ext cx="109728" cy="489204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508760"/>
            <a:ext cx="5577840" cy="4572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Traditional NLP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5577840" cy="4572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55448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onsolas"/>
              </a:rPr>
              <a:t>Modern NLP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03120"/>
            <a:ext cx="52578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Relied heavily on handcrafted rules and linguistic heuristics, limiting scalability across languages.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Statistical models depended on feature engineering and struggled with context and ambiguity.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Performance was domain-specific and required extensive manual tuning for new tasks.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03120"/>
            <a:ext cx="52578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Utilizes deep learning architectures like transformers for contextualized word representations.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Pretrained models transfer knowledge across tasks, reducing need for manual feature engineering.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Strong generalization capabilities enable broad application in diverse NLP challenges.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Transformer Architecture Revolution</a:t>
            </a:r>
          </a:p>
        </p:txBody>
      </p:sp>
      <p:sp>
        <p:nvSpPr>
          <p:cNvPr id="5" name="Oval 4"/>
          <p:cNvSpPr/>
          <p:nvPr/>
        </p:nvSpPr>
        <p:spPr>
          <a:xfrm>
            <a:off x="10698480" y="256032"/>
            <a:ext cx="640080" cy="64008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658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Introduced in 2017, transformers utilize self-attention mechanisms to weigh the importance of input tokens dynamically.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This architecture enables parallel processing of data, significantly speeding up training and inference.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Transformers capture long-range dependencies in text more effectively than prior sequential models like RNNs.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They form the backbone of state-of-the-art models like BERT, GPT, and T5, driving major NLP advances.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Key NLP Applications Today</a:t>
            </a:r>
          </a:p>
        </p:txBody>
      </p:sp>
      <p:sp>
        <p:nvSpPr>
          <p:cNvPr id="5" name="Oval 4"/>
          <p:cNvSpPr/>
          <p:nvPr/>
        </p:nvSpPr>
        <p:spPr>
          <a:xfrm>
            <a:off x="10698480" y="256032"/>
            <a:ext cx="640080" cy="64008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58064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91440" cy="242316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2382012"/>
            <a:ext cx="768096" cy="768096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455164"/>
            <a:ext cx="731519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664207"/>
            <a:ext cx="4489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Chatbots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53896" y="2057400"/>
            <a:ext cx="44897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E32"/>
                </a:solidFill>
                <a:latin typeface="Calibri"/>
              </a:rPr>
              <a:t>Automate customer interactions with natural, context-aware conversational agents.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58064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554480"/>
            <a:ext cx="91440" cy="24231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6520" y="2382012"/>
            <a:ext cx="768096" cy="768096"/>
          </a:xfrm>
          <a:prstGeom prst="ellipse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2455164"/>
            <a:ext cx="731519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1664207"/>
            <a:ext cx="4489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Language Translation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2057400"/>
            <a:ext cx="44897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E32"/>
                </a:solidFill>
                <a:latin typeface="Calibri"/>
              </a:rPr>
              <a:t>Provide real-time, accurate translations across numerous languages and dialects.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069080"/>
            <a:ext cx="58064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069080"/>
            <a:ext cx="91440" cy="24231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2920" y="4896612"/>
            <a:ext cx="768096" cy="768096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8" y="4969764"/>
            <a:ext cx="731519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53896" y="4178808"/>
            <a:ext cx="4489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Sentiment Analysis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53896" y="4572000"/>
            <a:ext cx="44897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E32"/>
                </a:solidFill>
                <a:latin typeface="Calibri"/>
              </a:rPr>
              <a:t>Analyze opinions and emotions in social media, reviews, and feedback.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069080"/>
            <a:ext cx="580644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4069080"/>
            <a:ext cx="91440" cy="242316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896612"/>
            <a:ext cx="768096" cy="768096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4969764"/>
            <a:ext cx="731519" cy="614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nsolas"/>
              </a:rPr>
              <a:t>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4178808"/>
            <a:ext cx="448970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1932"/>
                </a:solidFill>
                <a:latin typeface="Consolas"/>
              </a:rPr>
              <a:t>Information Retrieval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97496" y="4572000"/>
            <a:ext cx="44897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41E32"/>
                </a:solidFill>
                <a:latin typeface="Calibri"/>
              </a:rPr>
              <a:t>Enhance search engines to understand queries and deliver relevant results.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Challenges in NLP Development</a:t>
            </a:r>
          </a:p>
        </p:txBody>
      </p:sp>
      <p:sp>
        <p:nvSpPr>
          <p:cNvPr id="5" name="Oval 4"/>
          <p:cNvSpPr/>
          <p:nvPr/>
        </p:nvSpPr>
        <p:spPr>
          <a:xfrm>
            <a:off x="10698480" y="256032"/>
            <a:ext cx="640080" cy="64008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658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Handling ambiguity and polysemy where words have multiple meanings depending on context.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Bias in training data can propagate unfair or harmful stereotypes in NLP model outputs.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Multilingual NLP requires adapting systems to diverse grammatical rules and cultural nuances.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Interpretability of deep learning models remains limited, complicating debugging and trust.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nsolas"/>
              </a:rPr>
              <a:t>Impactful NLP Industry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5029200" cy="41148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37160" cy="41148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50FA7B"/>
                </a:solidFill>
                <a:latin typeface="Consolas"/>
              </a:rPr>
              <a:t>$30B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C8DC"/>
                </a:solidFill>
                <a:latin typeface="Calibri"/>
              </a:rPr>
              <a:t>NLP Market Value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589788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1371600"/>
            <a:ext cx="109728" cy="41148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6002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NLP market size is expected to exceed $30 billion by 2026, driven by enterprise adoption and innovation.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Over 70% of customer service interactions globally are projected to be handled by AI-powered chatbots by 2025.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Advances in NLP have accelerated automation across legal, healthcare, finance, and marketing industries.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400" b="1">
                <a:solidFill>
                  <a:srgbClr val="00C8DC"/>
                </a:solidFill>
                <a:latin typeface="Calibri"/>
              </a:rPr>
              <a:t>▸  </a:t>
            </a:r>
            <a:r>
              <a:rPr sz="1600" b="0">
                <a:solidFill>
                  <a:srgbClr val="141E32"/>
                </a:solidFill>
                <a:latin typeface="Calibri"/>
              </a:rPr>
              <a:t>Continuous improvements in language understanding are enabling more natural human-computer interactions.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132588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828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onsolas"/>
              </a:rPr>
              <a:t>Future Directions in NLP</a:t>
            </a:r>
          </a:p>
        </p:txBody>
      </p:sp>
      <p:sp>
        <p:nvSpPr>
          <p:cNvPr id="5" name="Oval 4"/>
          <p:cNvSpPr/>
          <p:nvPr/>
        </p:nvSpPr>
        <p:spPr>
          <a:xfrm>
            <a:off x="10698480" y="256032"/>
            <a:ext cx="640080" cy="64008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463040"/>
            <a:ext cx="1165860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463040"/>
            <a:ext cx="109728" cy="49377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Focus on few-shot and zero-shot learning to reduce dependency on large labeled datasets.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Greater emphasis on ethical AI to mitigate bias and ensure transparency in NLP systems.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Integration of multimodal learning combining language with vision, audio, and other data types.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500" b="1">
                <a:solidFill>
                  <a:srgbClr val="00C8DC"/>
                </a:solidFill>
                <a:latin typeface="Calibri"/>
              </a:rPr>
              <a:t>▸  </a:t>
            </a:r>
            <a:r>
              <a:rPr sz="1700" b="0">
                <a:solidFill>
                  <a:srgbClr val="141E32"/>
                </a:solidFill>
                <a:latin typeface="Calibri"/>
              </a:rPr>
              <a:t>Personalization of NLP models to adapt responses based on individual user preferences and context.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-18288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0" b="1" i="0">
                <a:solidFill>
                  <a:srgbClr val="0A1932"/>
                </a:solidFill>
                <a:latin typeface="Consolas"/>
              </a:rPr>
              <a:t>“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61520" cy="9144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698480" y="256032"/>
            <a:ext cx="640080" cy="640080"/>
          </a:xfrm>
          <a:prstGeom prst="ellipse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2743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0F23"/>
                </a:solidFill>
                <a:latin typeface="Consola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822960"/>
            <a:ext cx="754014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  <a:latin typeface="Consolas"/>
              </a:rPr>
              <a:t>“Natural Language Processing bridges human communication and machine intelligence, unlocking unprecedented possibilities by understanding the subtlety and complexity of language.”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754014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C8DC"/>
                </a:solidFill>
                <a:latin typeface="Calibri"/>
              </a:rPr>
              <a:t>— Anonymous AI Researcher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26603" y="1097280"/>
            <a:ext cx="3770071" cy="5029200"/>
          </a:xfrm>
          <a:prstGeom prst="rect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26603" y="1097280"/>
            <a:ext cx="109728" cy="502920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55203" y="1325880"/>
            <a:ext cx="3282696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50FA7B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NLP aims to create seamless interactions between humans and technology, fostering accessibility and efficiency.</a:t>
            </a:r>
          </a:p>
          <a:p>
            <a:pPr algn="l">
              <a:spcBef>
                <a:spcPts val="500"/>
              </a:spcBef>
              <a:spcAft>
                <a:spcPts val="500"/>
              </a:spcAft>
            </a:pPr>
            <a:r>
              <a:rPr sz="1300" b="1">
                <a:solidFill>
                  <a:srgbClr val="50FA7B"/>
                </a:solidFill>
                <a:latin typeface="Calibri"/>
              </a:rPr>
              <a:t>▸  </a:t>
            </a:r>
            <a:r>
              <a:rPr sz="1500" b="0">
                <a:solidFill>
                  <a:srgbClr val="141E32"/>
                </a:solidFill>
                <a:latin typeface="Calibri"/>
              </a:rPr>
              <a:t>Ongoing research strives to make machines not only understand but also generate meaningful, context-aware language.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77272" y="128016"/>
            <a:ext cx="1865376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0" y="201168"/>
            <a:ext cx="164592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61520" cy="137160"/>
          </a:xfrm>
          <a:prstGeom prst="rect">
            <a:avLst/>
          </a:prstGeom>
          <a:solidFill>
            <a:srgbClr val="50F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61520" cy="13716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C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0" y="-914400"/>
            <a:ext cx="5943600" cy="5943600"/>
          </a:xfrm>
          <a:prstGeom prst="ellipse">
            <a:avLst/>
          </a:prstGeom>
          <a:solidFill>
            <a:srgbClr val="0A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321040" y="274320"/>
            <a:ext cx="3657600" cy="3657600"/>
          </a:xfrm>
          <a:prstGeom prst="ellipse">
            <a:avLst/>
          </a:prstGeom>
          <a:solidFill>
            <a:srgbClr val="060F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Consolas"/>
              </a:rP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718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00C8DC"/>
                </a:solidFill>
                <a:latin typeface="Calibri"/>
              </a:rPr>
              <a:t>natural language 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482A0"/>
                </a:solidFill>
                <a:latin typeface="Calibri"/>
              </a:rPr>
              <a:t>Powered by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0" y="5394960"/>
            <a:ext cx="23774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C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ownlo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5486400"/>
            <a:ext cx="2194560" cy="1005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