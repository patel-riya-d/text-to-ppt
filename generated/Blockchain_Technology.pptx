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6152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060F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-1828800"/>
            <a:ext cx="4572000" cy="4572000"/>
          </a:xfrm>
          <a:prstGeom prst="ellipse">
            <a:avLst/>
          </a:prstGeom>
          <a:solidFill>
            <a:srgbClr val="0A19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418320" y="4114800"/>
            <a:ext cx="4572000" cy="4572000"/>
          </a:xfrm>
          <a:prstGeom prst="ellipse">
            <a:avLst/>
          </a:prstGeom>
          <a:solidFill>
            <a:srgbClr val="00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1097280" y="-1097280"/>
            <a:ext cx="3200400" cy="3200400"/>
          </a:xfrm>
          <a:prstGeom prst="ellipse">
            <a:avLst/>
          </a:prstGeom>
          <a:solidFill>
            <a:srgbClr val="060F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149840" y="4846320"/>
            <a:ext cx="3200400" cy="3200400"/>
          </a:xfrm>
          <a:prstGeom prst="ellipse">
            <a:avLst/>
          </a:prstGeom>
          <a:solidFill>
            <a:srgbClr val="060F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2880360"/>
            <a:ext cx="12161520" cy="73152"/>
          </a:xfrm>
          <a:prstGeom prst="rect">
            <a:avLst/>
          </a:prstGeom>
          <a:solidFill>
            <a:srgbClr val="50FA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554480"/>
            <a:ext cx="106984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600" b="1" i="0">
                <a:solidFill>
                  <a:srgbClr val="FFFFFF"/>
                </a:solidFill>
                <a:latin typeface="Consolas"/>
              </a:rPr>
              <a:t>BLOCKCHAIN TECHNOLOGY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749039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50FA7B"/>
                </a:solidFill>
                <a:latin typeface="Calibri"/>
              </a:rPr>
              <a:t>AI Generated Presentation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917936" y="5623560"/>
            <a:ext cx="1078992" cy="1078992"/>
          </a:xfrm>
          <a:prstGeom prst="rect">
            <a:avLst/>
          </a:prstGeom>
          <a:solidFill>
            <a:srgbClr val="FFFFFF"/>
          </a:solidFill>
          <a:ln w="15240">
            <a:solidFill>
              <a:srgbClr val="00C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downlo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45952" y="5751576"/>
            <a:ext cx="822960" cy="8229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149840" y="0"/>
            <a:ext cx="2011680" cy="6858000"/>
          </a:xfrm>
          <a:prstGeom prst="rect">
            <a:avLst/>
          </a:prstGeom>
          <a:solidFill>
            <a:srgbClr val="0A19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76688" y="0"/>
            <a:ext cx="73152" cy="6858000"/>
          </a:xfrm>
          <a:prstGeom prst="rect">
            <a:avLst/>
          </a:prstGeom>
          <a:solidFill>
            <a:srgbClr val="50FA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828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300" b="1" i="0">
                <a:solidFill>
                  <a:srgbClr val="FFFFFF"/>
                </a:solidFill>
                <a:latin typeface="Consolas"/>
              </a:rPr>
              <a:t>Understanding Blockchain Basics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960120"/>
            <a:ext cx="100584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00C8DC"/>
                </a:solidFill>
                <a:latin typeface="Calibri"/>
              </a:rPr>
              <a:t>Key foundational concepts driving blockchain technology today</a:t>
            </a:r>
          </a:p>
        </p:txBody>
      </p:sp>
      <p:sp>
        <p:nvSpPr>
          <p:cNvPr id="7" name="Oval 6"/>
          <p:cNvSpPr/>
          <p:nvPr/>
        </p:nvSpPr>
        <p:spPr>
          <a:xfrm>
            <a:off x="10698480" y="228600"/>
            <a:ext cx="621792" cy="621792"/>
          </a:xfrm>
          <a:prstGeom prst="ellipse">
            <a:avLst/>
          </a:prstGeom>
          <a:solidFill>
            <a:srgbClr val="50FA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716768" y="246888"/>
            <a:ext cx="58521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60F23"/>
                </a:solidFill>
                <a:latin typeface="Consolas"/>
              </a:rPr>
              <a:t>1</a:t>
            </a:r>
          </a:p>
        </p:txBody>
      </p:sp>
      <p:sp>
        <p:nvSpPr>
          <p:cNvPr id="9" name="Rectangle 8"/>
          <p:cNvSpPr/>
          <p:nvPr/>
        </p:nvSpPr>
        <p:spPr>
          <a:xfrm>
            <a:off x="347472" y="1600200"/>
            <a:ext cx="9555480" cy="5047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2064" y="1764792"/>
            <a:ext cx="9299448" cy="4818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400" b="1">
                <a:solidFill>
                  <a:srgbClr val="00C8DC"/>
                </a:solidFill>
                <a:latin typeface="Calibri"/>
              </a:rPr>
              <a:t>▸  </a:t>
            </a:r>
            <a:r>
              <a:rPr sz="1600" b="0">
                <a:solidFill>
                  <a:srgbClr val="141E32"/>
                </a:solidFill>
                <a:latin typeface="Calibri"/>
              </a:rPr>
              <a:t>Blockchain is a decentralized ledger technology that records transactions across multiple nodes, ensuring data integrity without relying on a central authority or intermediary trust.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400" b="1">
                <a:solidFill>
                  <a:srgbClr val="00C8DC"/>
                </a:solidFill>
                <a:latin typeface="Calibri"/>
              </a:rPr>
              <a:t>▸  </a:t>
            </a:r>
            <a:r>
              <a:rPr sz="1600" b="0">
                <a:solidFill>
                  <a:srgbClr val="141E32"/>
                </a:solidFill>
                <a:latin typeface="Calibri"/>
              </a:rPr>
              <a:t>Each block contains a cryptographic hash of the previous block, a timestamp, and transaction data, forming an immutable chain resistant to tampering or revision.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400" b="1">
                <a:solidFill>
                  <a:srgbClr val="00C8DC"/>
                </a:solidFill>
                <a:latin typeface="Calibri"/>
              </a:rPr>
              <a:t>▸  </a:t>
            </a:r>
            <a:r>
              <a:rPr sz="1600" b="0">
                <a:solidFill>
                  <a:srgbClr val="141E32"/>
                </a:solidFill>
                <a:latin typeface="Calibri"/>
              </a:rPr>
              <a:t>Consensus mechanisms like Proof of Work or Proof of Stake enable distributed agreement on the state of the blockchain, validating transactions securely and transparently.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400" b="1">
                <a:solidFill>
                  <a:srgbClr val="00C8DC"/>
                </a:solidFill>
                <a:latin typeface="Calibri"/>
              </a:rPr>
              <a:t>▸  </a:t>
            </a:r>
            <a:r>
              <a:rPr sz="1600" b="0">
                <a:solidFill>
                  <a:srgbClr val="141E32"/>
                </a:solidFill>
                <a:latin typeface="Calibri"/>
              </a:rPr>
              <a:t>Smart contracts automate predefined rules and agreements on the blockchain, facilitating trustless execution of complex transactions without intermediaries.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400" b="1">
                <a:solidFill>
                  <a:srgbClr val="00C8DC"/>
                </a:solidFill>
                <a:latin typeface="Calibri"/>
              </a:rPr>
              <a:t>▸  </a:t>
            </a:r>
            <a:r>
              <a:rPr sz="1600" b="0">
                <a:solidFill>
                  <a:srgbClr val="141E32"/>
                </a:solidFill>
                <a:latin typeface="Calibri"/>
              </a:rPr>
              <a:t>The decentralized nature of blockchain provides enhanced security, transparency, and traceability compared to traditional centralized databases.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656832"/>
            <a:ext cx="12161520" cy="201168"/>
          </a:xfrm>
          <a:prstGeom prst="rect">
            <a:avLst/>
          </a:prstGeom>
          <a:solidFill>
            <a:srgbClr val="060F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082528" y="164592"/>
            <a:ext cx="914400" cy="914400"/>
          </a:xfrm>
          <a:prstGeom prst="rect">
            <a:avLst/>
          </a:prstGeom>
          <a:solidFill>
            <a:srgbClr val="FFFFFF"/>
          </a:solidFill>
          <a:ln w="15240">
            <a:solidFill>
              <a:srgbClr val="00C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downlo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10544" y="292608"/>
            <a:ext cx="658368" cy="65836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149840" y="0"/>
            <a:ext cx="2011680" cy="6858000"/>
          </a:xfrm>
          <a:prstGeom prst="rect">
            <a:avLst/>
          </a:prstGeom>
          <a:solidFill>
            <a:srgbClr val="0A19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76688" y="0"/>
            <a:ext cx="73152" cy="6858000"/>
          </a:xfrm>
          <a:prstGeom prst="rect">
            <a:avLst/>
          </a:prstGeom>
          <a:solidFill>
            <a:srgbClr val="50FA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828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300" b="1" i="0">
                <a:solidFill>
                  <a:srgbClr val="FFFFFF"/>
                </a:solidFill>
                <a:latin typeface="Consolas"/>
              </a:rPr>
              <a:t>Blockchain Technology Evolution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960120"/>
            <a:ext cx="100584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00C8DC"/>
                </a:solidFill>
                <a:latin typeface="Calibri"/>
              </a:rPr>
              <a:t>Historical milestones shaping blockchain development</a:t>
            </a:r>
          </a:p>
        </p:txBody>
      </p:sp>
      <p:sp>
        <p:nvSpPr>
          <p:cNvPr id="7" name="Oval 6"/>
          <p:cNvSpPr/>
          <p:nvPr/>
        </p:nvSpPr>
        <p:spPr>
          <a:xfrm>
            <a:off x="10698480" y="228600"/>
            <a:ext cx="621792" cy="621792"/>
          </a:xfrm>
          <a:prstGeom prst="ellipse">
            <a:avLst/>
          </a:prstGeom>
          <a:solidFill>
            <a:srgbClr val="50FA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716768" y="246888"/>
            <a:ext cx="58521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60F23"/>
                </a:solidFill>
                <a:latin typeface="Consolas"/>
              </a:rPr>
              <a:t>2</a:t>
            </a:r>
          </a:p>
        </p:txBody>
      </p:sp>
      <p:sp>
        <p:nvSpPr>
          <p:cNvPr id="9" name="Rectangle 8"/>
          <p:cNvSpPr/>
          <p:nvPr/>
        </p:nvSpPr>
        <p:spPr>
          <a:xfrm>
            <a:off x="347472" y="4022994"/>
            <a:ext cx="9555480" cy="64008"/>
          </a:xfrm>
          <a:prstGeom prst="rect">
            <a:avLst/>
          </a:prstGeom>
          <a:solidFill>
            <a:srgbClr val="00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73836" y="3725814"/>
            <a:ext cx="658368" cy="658368"/>
          </a:xfrm>
          <a:prstGeom prst="ellipse">
            <a:avLst/>
          </a:prstGeom>
          <a:solidFill>
            <a:srgbClr val="0A19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120140" y="3872118"/>
            <a:ext cx="365760" cy="365760"/>
          </a:xfrm>
          <a:prstGeom prst="ellipse">
            <a:avLst/>
          </a:prstGeom>
          <a:solidFill>
            <a:srgbClr val="50FA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1852" y="3840114"/>
            <a:ext cx="4023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60F23"/>
                </a:solidFill>
                <a:latin typeface="Consolas"/>
              </a:rPr>
              <a:t>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0359" y="1582643"/>
            <a:ext cx="1605320" cy="222089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0359" y="1582643"/>
            <a:ext cx="82296" cy="2220894"/>
          </a:xfrm>
          <a:prstGeom prst="rect">
            <a:avLst/>
          </a:prstGeom>
          <a:solidFill>
            <a:srgbClr val="0A19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4951" y="1674083"/>
            <a:ext cx="13767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A1932"/>
                </a:solidFill>
                <a:latin typeface="Consolas"/>
              </a:rPr>
              <a:t>2008 - Bitcoin Paper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4951" y="2094707"/>
            <a:ext cx="1376720" cy="15991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41E32"/>
                </a:solidFill>
                <a:latin typeface="Calibri"/>
              </a:rPr>
              <a:t>Satoshi Nakamoto publishes the Bitcoin whitepaper, introducing blockchain as a solution for decentralized digital currency transactions.</a:t>
            </a:r>
          </a:p>
        </p:txBody>
      </p:sp>
      <p:sp>
        <p:nvSpPr>
          <p:cNvPr id="17" name="Oval 16"/>
          <p:cNvSpPr/>
          <p:nvPr/>
        </p:nvSpPr>
        <p:spPr>
          <a:xfrm>
            <a:off x="2884932" y="3725814"/>
            <a:ext cx="658368" cy="658368"/>
          </a:xfrm>
          <a:prstGeom prst="ellipse">
            <a:avLst/>
          </a:prstGeom>
          <a:solidFill>
            <a:srgbClr val="0A19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031236" y="3872118"/>
            <a:ext cx="365760" cy="365760"/>
          </a:xfrm>
          <a:prstGeom prst="ellipse">
            <a:avLst/>
          </a:prstGeom>
          <a:solidFill>
            <a:srgbClr val="50FA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012948" y="3840114"/>
            <a:ext cx="4023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60F23"/>
                </a:solidFill>
                <a:latin typeface="Consolas"/>
              </a:rPr>
              <a:t>2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186684" y="4352178"/>
            <a:ext cx="54864" cy="237743"/>
          </a:xfrm>
          <a:prstGeom prst="rect">
            <a:avLst/>
          </a:prstGeom>
          <a:solidFill>
            <a:srgbClr val="00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411455" y="4589922"/>
            <a:ext cx="1605320" cy="222089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411455" y="4589922"/>
            <a:ext cx="82296" cy="2220894"/>
          </a:xfrm>
          <a:prstGeom prst="rect">
            <a:avLst/>
          </a:prstGeom>
          <a:solidFill>
            <a:srgbClr val="00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576047" y="4681362"/>
            <a:ext cx="13767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A1932"/>
                </a:solidFill>
                <a:latin typeface="Consolas"/>
              </a:rPr>
              <a:t>2015 - Ethereum Launch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76047" y="5101986"/>
            <a:ext cx="1376720" cy="15991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41E32"/>
                </a:solidFill>
                <a:latin typeface="Calibri"/>
              </a:rPr>
              <a:t>Ethereum introduces smart contracts, allowing programmable, decentralized applications beyond simple cryptocurrency payments.</a:t>
            </a:r>
          </a:p>
        </p:txBody>
      </p:sp>
      <p:sp>
        <p:nvSpPr>
          <p:cNvPr id="25" name="Oval 24"/>
          <p:cNvSpPr/>
          <p:nvPr/>
        </p:nvSpPr>
        <p:spPr>
          <a:xfrm>
            <a:off x="4796028" y="3725814"/>
            <a:ext cx="658368" cy="658368"/>
          </a:xfrm>
          <a:prstGeom prst="ellipse">
            <a:avLst/>
          </a:prstGeom>
          <a:solidFill>
            <a:srgbClr val="0A19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4942332" y="3872118"/>
            <a:ext cx="365760" cy="365760"/>
          </a:xfrm>
          <a:prstGeom prst="ellipse">
            <a:avLst/>
          </a:prstGeom>
          <a:solidFill>
            <a:srgbClr val="50FA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924044" y="3840114"/>
            <a:ext cx="4023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60F23"/>
                </a:solidFill>
                <a:latin typeface="Consolas"/>
              </a:rPr>
              <a:t>3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322551" y="1582643"/>
            <a:ext cx="1605320" cy="222089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322551" y="1582643"/>
            <a:ext cx="82296" cy="2220894"/>
          </a:xfrm>
          <a:prstGeom prst="rect">
            <a:avLst/>
          </a:prstGeom>
          <a:solidFill>
            <a:srgbClr val="50FA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487143" y="1674083"/>
            <a:ext cx="13767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A1932"/>
                </a:solidFill>
                <a:latin typeface="Consolas"/>
              </a:rPr>
              <a:t>2017 - ICO Boom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87143" y="2094707"/>
            <a:ext cx="1376720" cy="15991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41E32"/>
                </a:solidFill>
                <a:latin typeface="Calibri"/>
              </a:rPr>
              <a:t>Initial Coin Offerings gain popularity, leveraging blockchain for fundraising with widespread regulatory scrutiny following rapid growth.</a:t>
            </a:r>
          </a:p>
        </p:txBody>
      </p:sp>
      <p:sp>
        <p:nvSpPr>
          <p:cNvPr id="32" name="Oval 31"/>
          <p:cNvSpPr/>
          <p:nvPr/>
        </p:nvSpPr>
        <p:spPr>
          <a:xfrm>
            <a:off x="6707124" y="3725814"/>
            <a:ext cx="658368" cy="658368"/>
          </a:xfrm>
          <a:prstGeom prst="ellipse">
            <a:avLst/>
          </a:prstGeom>
          <a:solidFill>
            <a:srgbClr val="0A19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853428" y="3872118"/>
            <a:ext cx="365760" cy="365760"/>
          </a:xfrm>
          <a:prstGeom prst="ellipse">
            <a:avLst/>
          </a:prstGeom>
          <a:solidFill>
            <a:srgbClr val="50FA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835140" y="3840114"/>
            <a:ext cx="4023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60F23"/>
                </a:solidFill>
                <a:latin typeface="Consolas"/>
              </a:rPr>
              <a:t>4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008876" y="4352178"/>
            <a:ext cx="54864" cy="237743"/>
          </a:xfrm>
          <a:prstGeom prst="rect">
            <a:avLst/>
          </a:prstGeom>
          <a:solidFill>
            <a:srgbClr val="00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233647" y="4589922"/>
            <a:ext cx="1605320" cy="222089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233647" y="4589922"/>
            <a:ext cx="82296" cy="2220894"/>
          </a:xfrm>
          <a:prstGeom prst="rect">
            <a:avLst/>
          </a:prstGeom>
          <a:solidFill>
            <a:srgbClr val="0A19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398239" y="4681362"/>
            <a:ext cx="13767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A1932"/>
                </a:solidFill>
                <a:latin typeface="Consolas"/>
              </a:rPr>
              <a:t>2020 - DeFi Surge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98239" y="5101986"/>
            <a:ext cx="1376720" cy="15991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41E32"/>
                </a:solidFill>
                <a:latin typeface="Calibri"/>
              </a:rPr>
              <a:t>Decentralized finance platforms expand significantly, offering lending, borrowing, and trading services without traditional financial intermediaries.</a:t>
            </a:r>
          </a:p>
        </p:txBody>
      </p:sp>
      <p:sp>
        <p:nvSpPr>
          <p:cNvPr id="40" name="Oval 39"/>
          <p:cNvSpPr/>
          <p:nvPr/>
        </p:nvSpPr>
        <p:spPr>
          <a:xfrm>
            <a:off x="8618220" y="3725814"/>
            <a:ext cx="658368" cy="658368"/>
          </a:xfrm>
          <a:prstGeom prst="ellipse">
            <a:avLst/>
          </a:prstGeom>
          <a:solidFill>
            <a:srgbClr val="0A19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8764524" y="3872118"/>
            <a:ext cx="365760" cy="365760"/>
          </a:xfrm>
          <a:prstGeom prst="ellipse">
            <a:avLst/>
          </a:prstGeom>
          <a:solidFill>
            <a:srgbClr val="50FA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746236" y="3840114"/>
            <a:ext cx="4023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60F23"/>
                </a:solidFill>
                <a:latin typeface="Consolas"/>
              </a:rPr>
              <a:t>5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144743" y="1582643"/>
            <a:ext cx="1605320" cy="222089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8144743" y="1582643"/>
            <a:ext cx="82296" cy="2220894"/>
          </a:xfrm>
          <a:prstGeom prst="rect">
            <a:avLst/>
          </a:prstGeom>
          <a:solidFill>
            <a:srgbClr val="00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309335" y="1674083"/>
            <a:ext cx="13767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A1932"/>
                </a:solidFill>
                <a:latin typeface="Consolas"/>
              </a:rPr>
              <a:t>2023 - Web3 Integration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309335" y="2094707"/>
            <a:ext cx="1376720" cy="15991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41E32"/>
                </a:solidFill>
                <a:latin typeface="Calibri"/>
              </a:rPr>
              <a:t>Blockchain integrates deeper with Web3 initiatives, emphasizing decentralized identity, data ownership, and interoperability across platforms.</a:t>
            </a:r>
          </a:p>
        </p:txBody>
      </p:sp>
      <p:sp>
        <p:nvSpPr>
          <p:cNvPr id="47" name="Rectangle 46"/>
          <p:cNvSpPr/>
          <p:nvPr/>
        </p:nvSpPr>
        <p:spPr>
          <a:xfrm>
            <a:off x="0" y="6656832"/>
            <a:ext cx="12161520" cy="201168"/>
          </a:xfrm>
          <a:prstGeom prst="rect">
            <a:avLst/>
          </a:prstGeom>
          <a:solidFill>
            <a:srgbClr val="060F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1082528" y="164592"/>
            <a:ext cx="914400" cy="914400"/>
          </a:xfrm>
          <a:prstGeom prst="rect">
            <a:avLst/>
          </a:prstGeom>
          <a:solidFill>
            <a:srgbClr val="FFFFFF"/>
          </a:solidFill>
          <a:ln w="15240">
            <a:solidFill>
              <a:srgbClr val="00C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9" name="Picture 48" descr="downlo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10544" y="292608"/>
            <a:ext cx="658368" cy="65836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149840" y="0"/>
            <a:ext cx="2011680" cy="6858000"/>
          </a:xfrm>
          <a:prstGeom prst="rect">
            <a:avLst/>
          </a:prstGeom>
          <a:solidFill>
            <a:srgbClr val="0A19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76688" y="0"/>
            <a:ext cx="73152" cy="6858000"/>
          </a:xfrm>
          <a:prstGeom prst="rect">
            <a:avLst/>
          </a:prstGeom>
          <a:solidFill>
            <a:srgbClr val="50FA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828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300" b="1" i="0">
                <a:solidFill>
                  <a:srgbClr val="FFFFFF"/>
                </a:solidFill>
                <a:latin typeface="Consolas"/>
              </a:rPr>
              <a:t>Blockchain vs. Traditional Databases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960120"/>
            <a:ext cx="100584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00C8DC"/>
                </a:solidFill>
                <a:latin typeface="Calibri"/>
              </a:rPr>
              <a:t>Comparing core differences in architecture and trust models</a:t>
            </a:r>
          </a:p>
        </p:txBody>
      </p:sp>
      <p:sp>
        <p:nvSpPr>
          <p:cNvPr id="7" name="Oval 6"/>
          <p:cNvSpPr/>
          <p:nvPr/>
        </p:nvSpPr>
        <p:spPr>
          <a:xfrm>
            <a:off x="10698480" y="228600"/>
            <a:ext cx="621792" cy="621792"/>
          </a:xfrm>
          <a:prstGeom prst="ellipse">
            <a:avLst/>
          </a:prstGeom>
          <a:solidFill>
            <a:srgbClr val="50FA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716768" y="246888"/>
            <a:ext cx="58521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60F23"/>
                </a:solidFill>
                <a:latin typeface="Consolas"/>
              </a:rPr>
              <a:t>3</a:t>
            </a:r>
          </a:p>
        </p:txBody>
      </p:sp>
      <p:sp>
        <p:nvSpPr>
          <p:cNvPr id="9" name="Rectangle 8"/>
          <p:cNvSpPr/>
          <p:nvPr/>
        </p:nvSpPr>
        <p:spPr>
          <a:xfrm>
            <a:off x="347472" y="1600200"/>
            <a:ext cx="4695444" cy="438912"/>
          </a:xfrm>
          <a:prstGeom prst="rect">
            <a:avLst/>
          </a:prstGeom>
          <a:solidFill>
            <a:srgbClr val="00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4632" y="1664208"/>
            <a:ext cx="451256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onsolas"/>
              </a:rPr>
              <a:t>Traditional Databases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47472" y="2039112"/>
            <a:ext cx="4695444" cy="4608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" y="2167128"/>
            <a:ext cx="4494276" cy="43342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200" b="1">
                <a:solidFill>
                  <a:srgbClr val="00C8DC"/>
                </a:solidFill>
                <a:latin typeface="Calibri"/>
              </a:rPr>
              <a:t>▸  </a:t>
            </a:r>
            <a:r>
              <a:rPr sz="1400" b="0">
                <a:solidFill>
                  <a:srgbClr val="141E32"/>
                </a:solidFill>
                <a:latin typeface="Calibri"/>
              </a:rPr>
              <a:t>Centralized control with a single authority responsible for data management and access permissions, creating potential single points of failure.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200" b="1">
                <a:solidFill>
                  <a:srgbClr val="00C8DC"/>
                </a:solidFill>
                <a:latin typeface="Calibri"/>
              </a:rPr>
              <a:t>▸  </a:t>
            </a:r>
            <a:r>
              <a:rPr sz="1400" b="0">
                <a:solidFill>
                  <a:srgbClr val="141E32"/>
                </a:solidFill>
                <a:latin typeface="Calibri"/>
              </a:rPr>
              <a:t>Data can be edited or deleted by administrators, limiting auditability but increasing flexibility for updates and corrections.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200" b="1">
                <a:solidFill>
                  <a:srgbClr val="00C8DC"/>
                </a:solidFill>
                <a:latin typeface="Calibri"/>
              </a:rPr>
              <a:t>▸  </a:t>
            </a:r>
            <a:r>
              <a:rPr sz="1400" b="0">
                <a:solidFill>
                  <a:srgbClr val="141E32"/>
                </a:solidFill>
                <a:latin typeface="Calibri"/>
              </a:rPr>
              <a:t>Transactions are typically faster due to centralized processing but rely heavily on trust in the database operator.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200" b="1">
                <a:solidFill>
                  <a:srgbClr val="00C8DC"/>
                </a:solidFill>
                <a:latin typeface="Calibri"/>
              </a:rPr>
              <a:t>▸  </a:t>
            </a:r>
            <a:r>
              <a:rPr sz="1400" b="0">
                <a:solidFill>
                  <a:srgbClr val="141E32"/>
                </a:solidFill>
                <a:latin typeface="Calibri"/>
              </a:rPr>
              <a:t>Security relies on established perimeter defenses and internal controls, vulnerable to insider threats or centralized cyberattacks.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207508" y="1600200"/>
            <a:ext cx="4695444" cy="438912"/>
          </a:xfrm>
          <a:prstGeom prst="rect">
            <a:avLst/>
          </a:prstGeom>
          <a:solidFill>
            <a:srgbClr val="0A19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44668" y="1664208"/>
            <a:ext cx="451256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onsolas"/>
              </a:rPr>
              <a:t>Blockchain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207508" y="2039112"/>
            <a:ext cx="4695444" cy="4608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35524" y="2167128"/>
            <a:ext cx="4494276" cy="43342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200" b="1">
                <a:solidFill>
                  <a:srgbClr val="00C8DC"/>
                </a:solidFill>
                <a:latin typeface="Calibri"/>
              </a:rPr>
              <a:t>▸  </a:t>
            </a:r>
            <a:r>
              <a:rPr sz="1400" b="0">
                <a:solidFill>
                  <a:srgbClr val="141E32"/>
                </a:solidFill>
                <a:latin typeface="Calibri"/>
              </a:rPr>
              <a:t>Decentralized network of nodes validates and stores data, eliminating reliance on a central authority for trust or data integrity.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200" b="1">
                <a:solidFill>
                  <a:srgbClr val="00C8DC"/>
                </a:solidFill>
                <a:latin typeface="Calibri"/>
              </a:rPr>
              <a:t>▸  </a:t>
            </a:r>
            <a:r>
              <a:rPr sz="1400" b="0">
                <a:solidFill>
                  <a:srgbClr val="141E32"/>
                </a:solidFill>
                <a:latin typeface="Calibri"/>
              </a:rPr>
              <a:t>Immutable ledger design prevents alteration or deletion of past transactions, enhancing transparency and auditability over time.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200" b="1">
                <a:solidFill>
                  <a:srgbClr val="00C8DC"/>
                </a:solidFill>
                <a:latin typeface="Calibri"/>
              </a:rPr>
              <a:t>▸  </a:t>
            </a:r>
            <a:r>
              <a:rPr sz="1400" b="0">
                <a:solidFill>
                  <a:srgbClr val="141E32"/>
                </a:solidFill>
                <a:latin typeface="Calibri"/>
              </a:rPr>
              <a:t>Consensus algorithms introduce additional latency but increase trustworthiness by verifying transactions collectively among participants.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200" b="1">
                <a:solidFill>
                  <a:srgbClr val="00C8DC"/>
                </a:solidFill>
                <a:latin typeface="Calibri"/>
              </a:rPr>
              <a:t>▸  </a:t>
            </a:r>
            <a:r>
              <a:rPr sz="1400" b="0">
                <a:solidFill>
                  <a:srgbClr val="141E32"/>
                </a:solidFill>
                <a:latin typeface="Calibri"/>
              </a:rPr>
              <a:t>Enhanced cryptographic and distributed security mechanisms reduce risks from single points of failure and insider manipulation.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656832"/>
            <a:ext cx="12161520" cy="201168"/>
          </a:xfrm>
          <a:prstGeom prst="rect">
            <a:avLst/>
          </a:prstGeom>
          <a:solidFill>
            <a:srgbClr val="060F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1082528" y="164592"/>
            <a:ext cx="914400" cy="914400"/>
          </a:xfrm>
          <a:prstGeom prst="rect">
            <a:avLst/>
          </a:prstGeom>
          <a:solidFill>
            <a:srgbClr val="FFFFFF"/>
          </a:solidFill>
          <a:ln w="15240">
            <a:solidFill>
              <a:srgbClr val="00C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downlo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10544" y="292608"/>
            <a:ext cx="658368" cy="65836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149840" y="0"/>
            <a:ext cx="2011680" cy="6858000"/>
          </a:xfrm>
          <a:prstGeom prst="rect">
            <a:avLst/>
          </a:prstGeom>
          <a:solidFill>
            <a:srgbClr val="0A19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76688" y="0"/>
            <a:ext cx="73152" cy="6858000"/>
          </a:xfrm>
          <a:prstGeom prst="rect">
            <a:avLst/>
          </a:prstGeom>
          <a:solidFill>
            <a:srgbClr val="50FA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828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300" b="1" i="0">
                <a:solidFill>
                  <a:srgbClr val="FFFFFF"/>
                </a:solidFill>
                <a:latin typeface="Consolas"/>
              </a:rPr>
              <a:t>Smart Contracts Explained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960120"/>
            <a:ext cx="100584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00C8DC"/>
                </a:solidFill>
                <a:latin typeface="Calibri"/>
              </a:rPr>
              <a:t>How programmable logic automates blockchain transactions</a:t>
            </a:r>
          </a:p>
        </p:txBody>
      </p:sp>
      <p:sp>
        <p:nvSpPr>
          <p:cNvPr id="7" name="Oval 6"/>
          <p:cNvSpPr/>
          <p:nvPr/>
        </p:nvSpPr>
        <p:spPr>
          <a:xfrm>
            <a:off x="10698480" y="228600"/>
            <a:ext cx="621792" cy="621792"/>
          </a:xfrm>
          <a:prstGeom prst="ellipse">
            <a:avLst/>
          </a:prstGeom>
          <a:solidFill>
            <a:srgbClr val="50FA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716768" y="246888"/>
            <a:ext cx="58521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60F23"/>
                </a:solidFill>
                <a:latin typeface="Consolas"/>
              </a:rPr>
              <a:t>4</a:t>
            </a:r>
          </a:p>
        </p:txBody>
      </p:sp>
      <p:sp>
        <p:nvSpPr>
          <p:cNvPr id="9" name="Rectangle 8"/>
          <p:cNvSpPr/>
          <p:nvPr/>
        </p:nvSpPr>
        <p:spPr>
          <a:xfrm>
            <a:off x="347472" y="1600200"/>
            <a:ext cx="9555480" cy="5047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2064" y="1764792"/>
            <a:ext cx="9299448" cy="4818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400" b="1">
                <a:solidFill>
                  <a:srgbClr val="00C8DC"/>
                </a:solidFill>
                <a:latin typeface="Calibri"/>
              </a:rPr>
              <a:t>▸  </a:t>
            </a:r>
            <a:r>
              <a:rPr sz="1600" b="0">
                <a:solidFill>
                  <a:srgbClr val="141E32"/>
                </a:solidFill>
                <a:latin typeface="Calibri"/>
              </a:rPr>
              <a:t>Smart contracts are self-executing agreements with coded rules that automatically enforce terms when predefined conditions are met on the blockchain.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400" b="1">
                <a:solidFill>
                  <a:srgbClr val="00C8DC"/>
                </a:solidFill>
                <a:latin typeface="Calibri"/>
              </a:rPr>
              <a:t>▸  </a:t>
            </a:r>
            <a:r>
              <a:rPr sz="1600" b="0">
                <a:solidFill>
                  <a:srgbClr val="141E32"/>
                </a:solidFill>
                <a:latin typeface="Calibri"/>
              </a:rPr>
              <a:t>They enable trustless transactions by eliminating the need for intermediaries, reducing transaction costs and settlement times significantly.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400" b="1">
                <a:solidFill>
                  <a:srgbClr val="00C8DC"/>
                </a:solidFill>
                <a:latin typeface="Calibri"/>
              </a:rPr>
              <a:t>▸  </a:t>
            </a:r>
            <a:r>
              <a:rPr sz="1600" b="0">
                <a:solidFill>
                  <a:srgbClr val="141E32"/>
                </a:solidFill>
                <a:latin typeface="Calibri"/>
              </a:rPr>
              <a:t>Use cases span financial services, supply chain management, insurance claims, and decentralized autonomous organizations (DAOs).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400" b="1">
                <a:solidFill>
                  <a:srgbClr val="00C8DC"/>
                </a:solidFill>
                <a:latin typeface="Calibri"/>
              </a:rPr>
              <a:t>▸  </a:t>
            </a:r>
            <a:r>
              <a:rPr sz="1600" b="0">
                <a:solidFill>
                  <a:srgbClr val="141E32"/>
                </a:solidFill>
                <a:latin typeface="Calibri"/>
              </a:rPr>
              <a:t>Vulnerabilities in smart contract code can lead to critical exploits, emphasizing the importance of rigorous testing and formal verification.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400" b="1">
                <a:solidFill>
                  <a:srgbClr val="00C8DC"/>
                </a:solidFill>
                <a:latin typeface="Calibri"/>
              </a:rPr>
              <a:t>▸  </a:t>
            </a:r>
            <a:r>
              <a:rPr sz="1600" b="0">
                <a:solidFill>
                  <a:srgbClr val="141E32"/>
                </a:solidFill>
                <a:latin typeface="Calibri"/>
              </a:rPr>
              <a:t>Languages like Solidity and Vyper facilitate smart contract development primarily on Ethereum, with emerging blockchains supporting alternative programming models.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656832"/>
            <a:ext cx="12161520" cy="201168"/>
          </a:xfrm>
          <a:prstGeom prst="rect">
            <a:avLst/>
          </a:prstGeom>
          <a:solidFill>
            <a:srgbClr val="060F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082528" y="164592"/>
            <a:ext cx="914400" cy="914400"/>
          </a:xfrm>
          <a:prstGeom prst="rect">
            <a:avLst/>
          </a:prstGeom>
          <a:solidFill>
            <a:srgbClr val="FFFFFF"/>
          </a:solidFill>
          <a:ln w="15240">
            <a:solidFill>
              <a:srgbClr val="00C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downlo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10544" y="292608"/>
            <a:ext cx="658368" cy="65836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149840" y="0"/>
            <a:ext cx="2011680" cy="6858000"/>
          </a:xfrm>
          <a:prstGeom prst="rect">
            <a:avLst/>
          </a:prstGeom>
          <a:solidFill>
            <a:srgbClr val="0A19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76688" y="0"/>
            <a:ext cx="73152" cy="6858000"/>
          </a:xfrm>
          <a:prstGeom prst="rect">
            <a:avLst/>
          </a:prstGeom>
          <a:solidFill>
            <a:srgbClr val="50FA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828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300" b="1" i="0">
                <a:solidFill>
                  <a:srgbClr val="FFFFFF"/>
                </a:solidFill>
                <a:latin typeface="Consolas"/>
              </a:rPr>
              <a:t>Key Blockchain Consensus Methods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960120"/>
            <a:ext cx="100584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00C8DC"/>
                </a:solidFill>
                <a:latin typeface="Calibri"/>
              </a:rPr>
              <a:t>Mechanisms validating transactions and securing networks</a:t>
            </a:r>
          </a:p>
        </p:txBody>
      </p:sp>
      <p:sp>
        <p:nvSpPr>
          <p:cNvPr id="7" name="Oval 6"/>
          <p:cNvSpPr/>
          <p:nvPr/>
        </p:nvSpPr>
        <p:spPr>
          <a:xfrm>
            <a:off x="10698480" y="228600"/>
            <a:ext cx="621792" cy="621792"/>
          </a:xfrm>
          <a:prstGeom prst="ellipse">
            <a:avLst/>
          </a:prstGeom>
          <a:solidFill>
            <a:srgbClr val="50FA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716768" y="246888"/>
            <a:ext cx="58521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60F23"/>
                </a:solidFill>
                <a:latin typeface="Consolas"/>
              </a:rPr>
              <a:t>5</a:t>
            </a:r>
          </a:p>
        </p:txBody>
      </p:sp>
      <p:sp>
        <p:nvSpPr>
          <p:cNvPr id="9" name="Rectangle 8"/>
          <p:cNvSpPr/>
          <p:nvPr/>
        </p:nvSpPr>
        <p:spPr>
          <a:xfrm>
            <a:off x="347472" y="1600200"/>
            <a:ext cx="9555480" cy="5047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2064" y="1764792"/>
            <a:ext cx="9299448" cy="4818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400" b="1">
                <a:solidFill>
                  <a:srgbClr val="00C8DC"/>
                </a:solidFill>
                <a:latin typeface="Calibri"/>
              </a:rPr>
              <a:t>▸  </a:t>
            </a:r>
            <a:r>
              <a:rPr sz="1600" b="0">
                <a:solidFill>
                  <a:srgbClr val="141E32"/>
                </a:solidFill>
                <a:latin typeface="Calibri"/>
              </a:rPr>
              <a:t>Proof of Work (PoW) requires miners to solve complex computational puzzles, validating transactions but consuming significant energy and incurring slower speeds.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400" b="1">
                <a:solidFill>
                  <a:srgbClr val="00C8DC"/>
                </a:solidFill>
                <a:latin typeface="Calibri"/>
              </a:rPr>
              <a:t>▸  </a:t>
            </a:r>
            <a:r>
              <a:rPr sz="1600" b="0">
                <a:solidFill>
                  <a:srgbClr val="141E32"/>
                </a:solidFill>
                <a:latin typeface="Calibri"/>
              </a:rPr>
              <a:t>Proof of Stake (PoS) selects validators based on cryptocurrency holdings, reducing energy consumption while maintaining security through economic incentives.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400" b="1">
                <a:solidFill>
                  <a:srgbClr val="00C8DC"/>
                </a:solidFill>
                <a:latin typeface="Calibri"/>
              </a:rPr>
              <a:t>▸  </a:t>
            </a:r>
            <a:r>
              <a:rPr sz="1600" b="0">
                <a:solidFill>
                  <a:srgbClr val="141E32"/>
                </a:solidFill>
                <a:latin typeface="Calibri"/>
              </a:rPr>
              <a:t>Delegated Proof of Stake (DPoS) enhances scalability by electing a limited number of trusted validators to produce blocks faster.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400" b="1">
                <a:solidFill>
                  <a:srgbClr val="00C8DC"/>
                </a:solidFill>
                <a:latin typeface="Calibri"/>
              </a:rPr>
              <a:t>▸  </a:t>
            </a:r>
            <a:r>
              <a:rPr sz="1600" b="0">
                <a:solidFill>
                  <a:srgbClr val="141E32"/>
                </a:solidFill>
                <a:latin typeface="Calibri"/>
              </a:rPr>
              <a:t>Practical Byzantine Fault Tolerance (PBFT) focuses on agreement in permissioned blockchains, ensuring consensus despite some malicious nodes.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400" b="1">
                <a:solidFill>
                  <a:srgbClr val="00C8DC"/>
                </a:solidFill>
                <a:latin typeface="Calibri"/>
              </a:rPr>
              <a:t>▸  </a:t>
            </a:r>
            <a:r>
              <a:rPr sz="1600" b="0">
                <a:solidFill>
                  <a:srgbClr val="141E32"/>
                </a:solidFill>
                <a:latin typeface="Calibri"/>
              </a:rPr>
              <a:t>Hybrid consensus models combine multiple approaches to balance decentralization, security, and throughput based on network requirements.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656832"/>
            <a:ext cx="12161520" cy="201168"/>
          </a:xfrm>
          <a:prstGeom prst="rect">
            <a:avLst/>
          </a:prstGeom>
          <a:solidFill>
            <a:srgbClr val="060F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082528" y="164592"/>
            <a:ext cx="914400" cy="914400"/>
          </a:xfrm>
          <a:prstGeom prst="rect">
            <a:avLst/>
          </a:prstGeom>
          <a:solidFill>
            <a:srgbClr val="FFFFFF"/>
          </a:solidFill>
          <a:ln w="15240">
            <a:solidFill>
              <a:srgbClr val="00C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downlo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10544" y="292608"/>
            <a:ext cx="658368" cy="65836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149840" y="0"/>
            <a:ext cx="2011680" cy="6858000"/>
          </a:xfrm>
          <a:prstGeom prst="rect">
            <a:avLst/>
          </a:prstGeom>
          <a:solidFill>
            <a:srgbClr val="0A19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76688" y="0"/>
            <a:ext cx="73152" cy="6858000"/>
          </a:xfrm>
          <a:prstGeom prst="rect">
            <a:avLst/>
          </a:prstGeom>
          <a:solidFill>
            <a:srgbClr val="50FA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828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300" b="1" i="0">
                <a:solidFill>
                  <a:srgbClr val="FFFFFF"/>
                </a:solidFill>
                <a:latin typeface="Consolas"/>
              </a:rPr>
              <a:t>Top Blockchain Use Cases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960120"/>
            <a:ext cx="100584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00C8DC"/>
                </a:solidFill>
                <a:latin typeface="Calibri"/>
              </a:rPr>
              <a:t>Real-world applications driving adoption across industries</a:t>
            </a:r>
          </a:p>
        </p:txBody>
      </p:sp>
      <p:sp>
        <p:nvSpPr>
          <p:cNvPr id="7" name="Oval 6"/>
          <p:cNvSpPr/>
          <p:nvPr/>
        </p:nvSpPr>
        <p:spPr>
          <a:xfrm>
            <a:off x="10698480" y="228600"/>
            <a:ext cx="621792" cy="621792"/>
          </a:xfrm>
          <a:prstGeom prst="ellipse">
            <a:avLst/>
          </a:prstGeom>
          <a:solidFill>
            <a:srgbClr val="50FA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716768" y="246888"/>
            <a:ext cx="58521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60F23"/>
                </a:solidFill>
                <a:latin typeface="Consolas"/>
              </a:rPr>
              <a:t>6</a:t>
            </a:r>
          </a:p>
        </p:txBody>
      </p:sp>
      <p:sp>
        <p:nvSpPr>
          <p:cNvPr id="9" name="Rectangle 8"/>
          <p:cNvSpPr/>
          <p:nvPr/>
        </p:nvSpPr>
        <p:spPr>
          <a:xfrm>
            <a:off x="347472" y="1600200"/>
            <a:ext cx="4713732" cy="24597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47472" y="1600200"/>
            <a:ext cx="91440" cy="2459736"/>
          </a:xfrm>
          <a:prstGeom prst="rect">
            <a:avLst/>
          </a:prstGeom>
          <a:solidFill>
            <a:srgbClr val="0A19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76072" y="2464308"/>
            <a:ext cx="731520" cy="731520"/>
          </a:xfrm>
          <a:prstGeom prst="ellipse">
            <a:avLst/>
          </a:prstGeom>
          <a:solidFill>
            <a:srgbClr val="0A19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648" y="2537460"/>
            <a:ext cx="65836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onsolas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72184" y="1709928"/>
            <a:ext cx="3461004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A1932"/>
                </a:solidFill>
                <a:latin typeface="Consolas"/>
              </a:rPr>
              <a:t>Financial Services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72184" y="2130552"/>
            <a:ext cx="3461004" cy="1801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41E32"/>
                </a:solidFill>
                <a:latin typeface="Calibri"/>
              </a:rPr>
              <a:t>Enables cross-border payments, fraud reduction, digital identity verification, and transparent asset tracking with reduced intermediaries.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189220" y="1600200"/>
            <a:ext cx="4713732" cy="24597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189220" y="1600200"/>
            <a:ext cx="91440" cy="2459736"/>
          </a:xfrm>
          <a:prstGeom prst="rect">
            <a:avLst/>
          </a:prstGeom>
          <a:solidFill>
            <a:srgbClr val="00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417820" y="2464308"/>
            <a:ext cx="731520" cy="731520"/>
          </a:xfrm>
          <a:prstGeom prst="ellipse">
            <a:avLst/>
          </a:prstGeom>
          <a:solidFill>
            <a:srgbClr val="00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54396" y="2537460"/>
            <a:ext cx="65836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onsolas"/>
              </a:rPr>
              <a:t>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13931" y="1709928"/>
            <a:ext cx="3461004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A1932"/>
                </a:solidFill>
                <a:latin typeface="Consolas"/>
              </a:rPr>
              <a:t>Supply Chain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13931" y="2130552"/>
            <a:ext cx="3461004" cy="1801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41E32"/>
                </a:solidFill>
                <a:latin typeface="Calibri"/>
              </a:rPr>
              <a:t>Enhances product provenance tracking, reduces counterfeiting, and improves logistics transparency for global supply networks.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47472" y="4187952"/>
            <a:ext cx="4713732" cy="24597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47472" y="4187952"/>
            <a:ext cx="91440" cy="2459736"/>
          </a:xfrm>
          <a:prstGeom prst="rect">
            <a:avLst/>
          </a:prstGeom>
          <a:solidFill>
            <a:srgbClr val="50FA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76072" y="5052060"/>
            <a:ext cx="731520" cy="731520"/>
          </a:xfrm>
          <a:prstGeom prst="ellipse">
            <a:avLst/>
          </a:prstGeom>
          <a:solidFill>
            <a:srgbClr val="50FA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12648" y="5125212"/>
            <a:ext cx="65836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onsolas"/>
              </a:rPr>
              <a:t>F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72184" y="4297680"/>
            <a:ext cx="3461004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A1932"/>
                </a:solidFill>
                <a:latin typeface="Consolas"/>
              </a:rPr>
              <a:t>Legal Industry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72184" y="4718304"/>
            <a:ext cx="3461004" cy="1801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41E32"/>
                </a:solidFill>
                <a:latin typeface="Calibri"/>
              </a:rPr>
              <a:t>Automates contract execution and enforces legal agreements through tamper-proof, verifiable smart contracts on blockchain platforms.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189220" y="4187952"/>
            <a:ext cx="4713732" cy="24597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189220" y="4187952"/>
            <a:ext cx="91440" cy="2459736"/>
          </a:xfrm>
          <a:prstGeom prst="rect">
            <a:avLst/>
          </a:prstGeom>
          <a:solidFill>
            <a:srgbClr val="0A19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5417820" y="5052060"/>
            <a:ext cx="731520" cy="731520"/>
          </a:xfrm>
          <a:prstGeom prst="ellipse">
            <a:avLst/>
          </a:prstGeom>
          <a:solidFill>
            <a:srgbClr val="0A19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54396" y="5125212"/>
            <a:ext cx="65836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onsolas"/>
              </a:rPr>
              <a:t>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13931" y="4297680"/>
            <a:ext cx="3461004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A1932"/>
                </a:solidFill>
                <a:latin typeface="Consolas"/>
              </a:rPr>
              <a:t>Healthcare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13931" y="4718304"/>
            <a:ext cx="3461004" cy="1801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41E32"/>
                </a:solidFill>
                <a:latin typeface="Calibri"/>
              </a:rPr>
              <a:t>Secures patient data sharing, enables interoperability across providers, and ensures data integrity for clinical trials and records.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656832"/>
            <a:ext cx="12161520" cy="201168"/>
          </a:xfrm>
          <a:prstGeom prst="rect">
            <a:avLst/>
          </a:prstGeom>
          <a:solidFill>
            <a:srgbClr val="060F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1082528" y="164592"/>
            <a:ext cx="914400" cy="914400"/>
          </a:xfrm>
          <a:prstGeom prst="rect">
            <a:avLst/>
          </a:prstGeom>
          <a:solidFill>
            <a:srgbClr val="FFFFFF"/>
          </a:solidFill>
          <a:ln w="15240">
            <a:solidFill>
              <a:srgbClr val="00C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Picture 34" descr="downlo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10544" y="292608"/>
            <a:ext cx="658368" cy="65836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149840" y="0"/>
            <a:ext cx="2011680" cy="6858000"/>
          </a:xfrm>
          <a:prstGeom prst="rect">
            <a:avLst/>
          </a:prstGeom>
          <a:solidFill>
            <a:srgbClr val="0A19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76688" y="0"/>
            <a:ext cx="73152" cy="6858000"/>
          </a:xfrm>
          <a:prstGeom prst="rect">
            <a:avLst/>
          </a:prstGeom>
          <a:solidFill>
            <a:srgbClr val="50FA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828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300" b="1" i="0">
                <a:solidFill>
                  <a:srgbClr val="FFFFFF"/>
                </a:solidFill>
                <a:latin typeface="Consolas"/>
              </a:rPr>
              <a:t>Blockchain Security Strengths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960120"/>
            <a:ext cx="100584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00C8DC"/>
                </a:solidFill>
                <a:latin typeface="Calibri"/>
              </a:rPr>
              <a:t>Features that protect data and enhance trustworthiness</a:t>
            </a:r>
          </a:p>
        </p:txBody>
      </p:sp>
      <p:sp>
        <p:nvSpPr>
          <p:cNvPr id="7" name="Oval 6"/>
          <p:cNvSpPr/>
          <p:nvPr/>
        </p:nvSpPr>
        <p:spPr>
          <a:xfrm>
            <a:off x="10698480" y="228600"/>
            <a:ext cx="621792" cy="621792"/>
          </a:xfrm>
          <a:prstGeom prst="ellipse">
            <a:avLst/>
          </a:prstGeom>
          <a:solidFill>
            <a:srgbClr val="50FA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716768" y="246888"/>
            <a:ext cx="58521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60F23"/>
                </a:solidFill>
                <a:latin typeface="Consolas"/>
              </a:rPr>
              <a:t>7</a:t>
            </a:r>
          </a:p>
        </p:txBody>
      </p:sp>
      <p:sp>
        <p:nvSpPr>
          <p:cNvPr id="9" name="Rectangle 8"/>
          <p:cNvSpPr/>
          <p:nvPr/>
        </p:nvSpPr>
        <p:spPr>
          <a:xfrm>
            <a:off x="347472" y="1600200"/>
            <a:ext cx="9555480" cy="5047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2064" y="1764792"/>
            <a:ext cx="9299448" cy="4818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400" b="1">
                <a:solidFill>
                  <a:srgbClr val="00C8DC"/>
                </a:solidFill>
                <a:latin typeface="Calibri"/>
              </a:rPr>
              <a:t>▸  </a:t>
            </a:r>
            <a:r>
              <a:rPr sz="1600" b="0">
                <a:solidFill>
                  <a:srgbClr val="141E32"/>
                </a:solidFill>
                <a:latin typeface="Calibri"/>
              </a:rPr>
              <a:t>Decentralization removes single points of failure, making data breaches and DDoS attacks less effective against blockchain networks.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400" b="1">
                <a:solidFill>
                  <a:srgbClr val="00C8DC"/>
                </a:solidFill>
                <a:latin typeface="Calibri"/>
              </a:rPr>
              <a:t>▸  </a:t>
            </a:r>
            <a:r>
              <a:rPr sz="1600" b="0">
                <a:solidFill>
                  <a:srgbClr val="141E32"/>
                </a:solidFill>
                <a:latin typeface="Calibri"/>
              </a:rPr>
              <a:t>Cryptographic hashing ensures transaction data cannot be altered retroactively without network consensus, preserving data integrity.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400" b="1">
                <a:solidFill>
                  <a:srgbClr val="00C8DC"/>
                </a:solidFill>
                <a:latin typeface="Calibri"/>
              </a:rPr>
              <a:t>▸  </a:t>
            </a:r>
            <a:r>
              <a:rPr sz="1600" b="0">
                <a:solidFill>
                  <a:srgbClr val="141E32"/>
                </a:solidFill>
                <a:latin typeface="Calibri"/>
              </a:rPr>
              <a:t>Consensus protocols validate transactions collectively, preventing fraudulent activities by malicious actors or collusion attempts.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400" b="1">
                <a:solidFill>
                  <a:srgbClr val="00C8DC"/>
                </a:solidFill>
                <a:latin typeface="Calibri"/>
              </a:rPr>
              <a:t>▸  </a:t>
            </a:r>
            <a:r>
              <a:rPr sz="1600" b="0">
                <a:solidFill>
                  <a:srgbClr val="141E32"/>
                </a:solidFill>
                <a:latin typeface="Calibri"/>
              </a:rPr>
              <a:t>Immutable ledger design provides a transparent audit trail, enabling traceability and accountability for all recorded transactions.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400" b="1">
                <a:solidFill>
                  <a:srgbClr val="00C8DC"/>
                </a:solidFill>
                <a:latin typeface="Calibri"/>
              </a:rPr>
              <a:t>▸  </a:t>
            </a:r>
            <a:r>
              <a:rPr sz="1600" b="0">
                <a:solidFill>
                  <a:srgbClr val="141E32"/>
                </a:solidFill>
                <a:latin typeface="Calibri"/>
              </a:rPr>
              <a:t>Permissioned blockchains add an additional layer of access control, restricting participation to vetted entities for sensitive applications.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656832"/>
            <a:ext cx="12161520" cy="201168"/>
          </a:xfrm>
          <a:prstGeom prst="rect">
            <a:avLst/>
          </a:prstGeom>
          <a:solidFill>
            <a:srgbClr val="060F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082528" y="164592"/>
            <a:ext cx="914400" cy="914400"/>
          </a:xfrm>
          <a:prstGeom prst="rect">
            <a:avLst/>
          </a:prstGeom>
          <a:solidFill>
            <a:srgbClr val="FFFFFF"/>
          </a:solidFill>
          <a:ln w="15240">
            <a:solidFill>
              <a:srgbClr val="00C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downlo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10544" y="292608"/>
            <a:ext cx="658368" cy="65836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149840" y="0"/>
            <a:ext cx="2011680" cy="6858000"/>
          </a:xfrm>
          <a:prstGeom prst="rect">
            <a:avLst/>
          </a:prstGeom>
          <a:solidFill>
            <a:srgbClr val="0A19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76688" y="0"/>
            <a:ext cx="73152" cy="6858000"/>
          </a:xfrm>
          <a:prstGeom prst="rect">
            <a:avLst/>
          </a:prstGeom>
          <a:solidFill>
            <a:srgbClr val="50FA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828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300" b="1" i="0">
                <a:solidFill>
                  <a:srgbClr val="FFFFFF"/>
                </a:solidFill>
                <a:latin typeface="Consolas"/>
              </a:rPr>
              <a:t>Challenges Facing Blockchain Adoption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960120"/>
            <a:ext cx="100584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00C8DC"/>
                </a:solidFill>
                <a:latin typeface="Calibri"/>
              </a:rPr>
              <a:t>Barriers limiting mainstream integration and scalability</a:t>
            </a:r>
          </a:p>
        </p:txBody>
      </p:sp>
      <p:sp>
        <p:nvSpPr>
          <p:cNvPr id="7" name="Oval 6"/>
          <p:cNvSpPr/>
          <p:nvPr/>
        </p:nvSpPr>
        <p:spPr>
          <a:xfrm>
            <a:off x="10698480" y="228600"/>
            <a:ext cx="621792" cy="621792"/>
          </a:xfrm>
          <a:prstGeom prst="ellipse">
            <a:avLst/>
          </a:prstGeom>
          <a:solidFill>
            <a:srgbClr val="50FA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716768" y="246888"/>
            <a:ext cx="58521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60F23"/>
                </a:solidFill>
                <a:latin typeface="Consolas"/>
              </a:rPr>
              <a:t>8</a:t>
            </a:r>
          </a:p>
        </p:txBody>
      </p:sp>
      <p:sp>
        <p:nvSpPr>
          <p:cNvPr id="9" name="Rectangle 8"/>
          <p:cNvSpPr/>
          <p:nvPr/>
        </p:nvSpPr>
        <p:spPr>
          <a:xfrm>
            <a:off x="347472" y="1600200"/>
            <a:ext cx="9555480" cy="5047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2064" y="1764792"/>
            <a:ext cx="9299448" cy="4818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400" b="1">
                <a:solidFill>
                  <a:srgbClr val="00C8DC"/>
                </a:solidFill>
                <a:latin typeface="Calibri"/>
              </a:rPr>
              <a:t>▸  </a:t>
            </a:r>
            <a:r>
              <a:rPr sz="1600" b="0">
                <a:solidFill>
                  <a:srgbClr val="141E32"/>
                </a:solidFill>
                <a:latin typeface="Calibri"/>
              </a:rPr>
              <a:t>Scalability remains a critical challenge as many blockchains face throughput limitations, leading to higher transaction costs and slower processing times under heavy loads.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400" b="1">
                <a:solidFill>
                  <a:srgbClr val="00C8DC"/>
                </a:solidFill>
                <a:latin typeface="Calibri"/>
              </a:rPr>
              <a:t>▸  </a:t>
            </a:r>
            <a:r>
              <a:rPr sz="1600" b="0">
                <a:solidFill>
                  <a:srgbClr val="141E32"/>
                </a:solidFill>
                <a:latin typeface="Calibri"/>
              </a:rPr>
              <a:t>Regulatory uncertainty and inconsistent global frameworks create risks for enterprises considering blockchain integration, especially in finance and data privacy.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400" b="1">
                <a:solidFill>
                  <a:srgbClr val="00C8DC"/>
                </a:solidFill>
                <a:latin typeface="Calibri"/>
              </a:rPr>
              <a:t>▸  </a:t>
            </a:r>
            <a:r>
              <a:rPr sz="1600" b="0">
                <a:solidFill>
                  <a:srgbClr val="141E32"/>
                </a:solidFill>
                <a:latin typeface="Calibri"/>
              </a:rPr>
              <a:t>Energy consumption concerns, particularly with Proof of Work networks, raise sustainability issues and increase operational costs for participants.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400" b="1">
                <a:solidFill>
                  <a:srgbClr val="00C8DC"/>
                </a:solidFill>
                <a:latin typeface="Calibri"/>
              </a:rPr>
              <a:t>▸  </a:t>
            </a:r>
            <a:r>
              <a:rPr sz="1600" b="0">
                <a:solidFill>
                  <a:srgbClr val="141E32"/>
                </a:solidFill>
                <a:latin typeface="Calibri"/>
              </a:rPr>
              <a:t>Interoperability between different blockchain platforms and legacy systems is limited, hampering seamless data exchange and broader ecosystem growth.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400" b="1">
                <a:solidFill>
                  <a:srgbClr val="00C8DC"/>
                </a:solidFill>
                <a:latin typeface="Calibri"/>
              </a:rPr>
              <a:t>▸  </a:t>
            </a:r>
            <a:r>
              <a:rPr sz="1600" b="0">
                <a:solidFill>
                  <a:srgbClr val="141E32"/>
                </a:solidFill>
                <a:latin typeface="Calibri"/>
              </a:rPr>
              <a:t>Complexity in development and required expertise slow adoption, with many organizations lacking skilled personnel to implement and maintain blockchain solutions.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656832"/>
            <a:ext cx="12161520" cy="201168"/>
          </a:xfrm>
          <a:prstGeom prst="rect">
            <a:avLst/>
          </a:prstGeom>
          <a:solidFill>
            <a:srgbClr val="060F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082528" y="164592"/>
            <a:ext cx="914400" cy="914400"/>
          </a:xfrm>
          <a:prstGeom prst="rect">
            <a:avLst/>
          </a:prstGeom>
          <a:solidFill>
            <a:srgbClr val="FFFFFF"/>
          </a:solidFill>
          <a:ln w="15240">
            <a:solidFill>
              <a:srgbClr val="00C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downlo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10544" y="292608"/>
            <a:ext cx="658368" cy="65836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149840" y="0"/>
            <a:ext cx="2011680" cy="6858000"/>
          </a:xfrm>
          <a:prstGeom prst="rect">
            <a:avLst/>
          </a:prstGeom>
          <a:solidFill>
            <a:srgbClr val="0A19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76688" y="0"/>
            <a:ext cx="73152" cy="6858000"/>
          </a:xfrm>
          <a:prstGeom prst="rect">
            <a:avLst/>
          </a:prstGeom>
          <a:solidFill>
            <a:srgbClr val="50FA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828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300" b="1" i="0">
                <a:solidFill>
                  <a:srgbClr val="FFFFFF"/>
                </a:solidFill>
                <a:latin typeface="Consolas"/>
              </a:rPr>
              <a:t>Future Trends in Blockchain Tech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960120"/>
            <a:ext cx="100584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00C8DC"/>
                </a:solidFill>
                <a:latin typeface="Calibri"/>
              </a:rPr>
              <a:t>Innovations shaping blockchain’s next decade</a:t>
            </a:r>
          </a:p>
        </p:txBody>
      </p:sp>
      <p:sp>
        <p:nvSpPr>
          <p:cNvPr id="7" name="Oval 6"/>
          <p:cNvSpPr/>
          <p:nvPr/>
        </p:nvSpPr>
        <p:spPr>
          <a:xfrm>
            <a:off x="10698480" y="228600"/>
            <a:ext cx="621792" cy="621792"/>
          </a:xfrm>
          <a:prstGeom prst="ellipse">
            <a:avLst/>
          </a:prstGeom>
          <a:solidFill>
            <a:srgbClr val="50FA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716768" y="246888"/>
            <a:ext cx="58521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60F23"/>
                </a:solidFill>
                <a:latin typeface="Consolas"/>
              </a:rPr>
              <a:t>9</a:t>
            </a:r>
          </a:p>
        </p:txBody>
      </p:sp>
      <p:sp>
        <p:nvSpPr>
          <p:cNvPr id="9" name="Rectangle 8"/>
          <p:cNvSpPr/>
          <p:nvPr/>
        </p:nvSpPr>
        <p:spPr>
          <a:xfrm>
            <a:off x="347472" y="1600200"/>
            <a:ext cx="9555480" cy="5047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2064" y="1764792"/>
            <a:ext cx="9299448" cy="4818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400" b="1">
                <a:solidFill>
                  <a:srgbClr val="00C8DC"/>
                </a:solidFill>
                <a:latin typeface="Calibri"/>
              </a:rPr>
              <a:t>▸  </a:t>
            </a:r>
            <a:r>
              <a:rPr sz="1600" b="0">
                <a:solidFill>
                  <a:srgbClr val="141E32"/>
                </a:solidFill>
                <a:latin typeface="Calibri"/>
              </a:rPr>
              <a:t>Layer 2 scaling solutions like rollups and sidechains improve transaction speeds and reduce fees by processing off-chain while anchoring security to mainnets.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400" b="1">
                <a:solidFill>
                  <a:srgbClr val="00C8DC"/>
                </a:solidFill>
                <a:latin typeface="Calibri"/>
              </a:rPr>
              <a:t>▸  </a:t>
            </a:r>
            <a:r>
              <a:rPr sz="1600" b="0">
                <a:solidFill>
                  <a:srgbClr val="141E32"/>
                </a:solidFill>
                <a:latin typeface="Calibri"/>
              </a:rPr>
              <a:t>Integration with artificial intelligence enhances smart contract capabilities, enabling dynamic adjustments and predictive contract execution.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400" b="1">
                <a:solidFill>
                  <a:srgbClr val="00C8DC"/>
                </a:solidFill>
                <a:latin typeface="Calibri"/>
              </a:rPr>
              <a:t>▸  </a:t>
            </a:r>
            <a:r>
              <a:rPr sz="1600" b="0">
                <a:solidFill>
                  <a:srgbClr val="141E32"/>
                </a:solidFill>
                <a:latin typeface="Calibri"/>
              </a:rPr>
              <a:t>Central bank digital currencies (CBDCs) are emerging worldwide, leveraging blockchain for transparent, efficient, and programmable national payment systems.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400" b="1">
                <a:solidFill>
                  <a:srgbClr val="00C8DC"/>
                </a:solidFill>
                <a:latin typeface="Calibri"/>
              </a:rPr>
              <a:t>▸  </a:t>
            </a:r>
            <a:r>
              <a:rPr sz="1600" b="0">
                <a:solidFill>
                  <a:srgbClr val="141E32"/>
                </a:solidFill>
                <a:latin typeface="Calibri"/>
              </a:rPr>
              <a:t>Cross-chain bridges and interoperability protocols facilitate secure asset transfers and data sharing between diverse blockchain networks, enhancing utility.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400" b="1">
                <a:solidFill>
                  <a:srgbClr val="00C8DC"/>
                </a:solidFill>
                <a:latin typeface="Calibri"/>
              </a:rPr>
              <a:t>▸  </a:t>
            </a:r>
            <a:r>
              <a:rPr sz="1600" b="0">
                <a:solidFill>
                  <a:srgbClr val="141E32"/>
                </a:solidFill>
                <a:latin typeface="Calibri"/>
              </a:rPr>
              <a:t>Decentralized identity frameworks empower users with control over personal data, supporting privacy-focused applications and regulatory compliance.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656832"/>
            <a:ext cx="12161520" cy="201168"/>
          </a:xfrm>
          <a:prstGeom prst="rect">
            <a:avLst/>
          </a:prstGeom>
          <a:solidFill>
            <a:srgbClr val="060F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082528" y="164592"/>
            <a:ext cx="914400" cy="914400"/>
          </a:xfrm>
          <a:prstGeom prst="rect">
            <a:avLst/>
          </a:prstGeom>
          <a:solidFill>
            <a:srgbClr val="FFFFFF"/>
          </a:solidFill>
          <a:ln w="15240">
            <a:solidFill>
              <a:srgbClr val="00C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downlo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10544" y="292608"/>
            <a:ext cx="658368" cy="65836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149840" y="0"/>
            <a:ext cx="2011680" cy="6858000"/>
          </a:xfrm>
          <a:prstGeom prst="rect">
            <a:avLst/>
          </a:prstGeom>
          <a:solidFill>
            <a:srgbClr val="0A19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76688" y="0"/>
            <a:ext cx="73152" cy="6858000"/>
          </a:xfrm>
          <a:prstGeom prst="rect">
            <a:avLst/>
          </a:prstGeom>
          <a:solidFill>
            <a:srgbClr val="50FA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828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300" b="1" i="0">
                <a:solidFill>
                  <a:srgbClr val="FFFFFF"/>
                </a:solidFill>
                <a:latin typeface="Consolas"/>
              </a:rPr>
              <a:t>Blockchain Implementation Steps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960120"/>
            <a:ext cx="100584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00C8DC"/>
                </a:solidFill>
                <a:latin typeface="Calibri"/>
              </a:rPr>
              <a:t>Strategic approach for successful blockchain projects</a:t>
            </a:r>
          </a:p>
        </p:txBody>
      </p:sp>
      <p:sp>
        <p:nvSpPr>
          <p:cNvPr id="7" name="Oval 6"/>
          <p:cNvSpPr/>
          <p:nvPr/>
        </p:nvSpPr>
        <p:spPr>
          <a:xfrm>
            <a:off x="10698480" y="228600"/>
            <a:ext cx="621792" cy="621792"/>
          </a:xfrm>
          <a:prstGeom prst="ellipse">
            <a:avLst/>
          </a:prstGeom>
          <a:solidFill>
            <a:srgbClr val="50FA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716768" y="246888"/>
            <a:ext cx="58521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60F23"/>
                </a:solidFill>
                <a:latin typeface="Consolas"/>
              </a:rPr>
              <a:t>10</a:t>
            </a:r>
          </a:p>
        </p:txBody>
      </p:sp>
      <p:sp>
        <p:nvSpPr>
          <p:cNvPr id="9" name="Rectangle 8"/>
          <p:cNvSpPr/>
          <p:nvPr/>
        </p:nvSpPr>
        <p:spPr>
          <a:xfrm>
            <a:off x="347472" y="4022994"/>
            <a:ext cx="9555480" cy="64008"/>
          </a:xfrm>
          <a:prstGeom prst="rect">
            <a:avLst/>
          </a:prstGeom>
          <a:solidFill>
            <a:srgbClr val="00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73836" y="3725814"/>
            <a:ext cx="658368" cy="658368"/>
          </a:xfrm>
          <a:prstGeom prst="ellipse">
            <a:avLst/>
          </a:prstGeom>
          <a:solidFill>
            <a:srgbClr val="0A19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120140" y="3872118"/>
            <a:ext cx="365760" cy="365760"/>
          </a:xfrm>
          <a:prstGeom prst="ellipse">
            <a:avLst/>
          </a:prstGeom>
          <a:solidFill>
            <a:srgbClr val="50FA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1852" y="3840114"/>
            <a:ext cx="4023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60F23"/>
                </a:solidFill>
                <a:latin typeface="Consolas"/>
              </a:rPr>
              <a:t>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0359" y="1582643"/>
            <a:ext cx="1605320" cy="222089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0359" y="1582643"/>
            <a:ext cx="82296" cy="2220894"/>
          </a:xfrm>
          <a:prstGeom prst="rect">
            <a:avLst/>
          </a:prstGeom>
          <a:solidFill>
            <a:srgbClr val="0A19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4951" y="1674083"/>
            <a:ext cx="13767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A1932"/>
                </a:solidFill>
                <a:latin typeface="Consolas"/>
              </a:rPr>
              <a:t>Identify Use Case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4951" y="2094707"/>
            <a:ext cx="1376720" cy="15991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41E32"/>
                </a:solidFill>
                <a:latin typeface="Calibri"/>
              </a:rPr>
              <a:t>Analyze business processes to determine areas where blockchain adds value through decentralization, transparency, or automation.</a:t>
            </a:r>
          </a:p>
        </p:txBody>
      </p:sp>
      <p:sp>
        <p:nvSpPr>
          <p:cNvPr id="17" name="Oval 16"/>
          <p:cNvSpPr/>
          <p:nvPr/>
        </p:nvSpPr>
        <p:spPr>
          <a:xfrm>
            <a:off x="2884932" y="3725814"/>
            <a:ext cx="658368" cy="658368"/>
          </a:xfrm>
          <a:prstGeom prst="ellipse">
            <a:avLst/>
          </a:prstGeom>
          <a:solidFill>
            <a:srgbClr val="0A19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031236" y="3872118"/>
            <a:ext cx="365760" cy="365760"/>
          </a:xfrm>
          <a:prstGeom prst="ellipse">
            <a:avLst/>
          </a:prstGeom>
          <a:solidFill>
            <a:srgbClr val="50FA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012948" y="3840114"/>
            <a:ext cx="4023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60F23"/>
                </a:solidFill>
                <a:latin typeface="Consolas"/>
              </a:rPr>
              <a:t>2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186684" y="4352178"/>
            <a:ext cx="54864" cy="237743"/>
          </a:xfrm>
          <a:prstGeom prst="rect">
            <a:avLst/>
          </a:prstGeom>
          <a:solidFill>
            <a:srgbClr val="00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411455" y="4589922"/>
            <a:ext cx="1605320" cy="222089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411455" y="4589922"/>
            <a:ext cx="82296" cy="2220894"/>
          </a:xfrm>
          <a:prstGeom prst="rect">
            <a:avLst/>
          </a:prstGeom>
          <a:solidFill>
            <a:srgbClr val="00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576047" y="4681362"/>
            <a:ext cx="13767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A1932"/>
                </a:solidFill>
                <a:latin typeface="Consolas"/>
              </a:rPr>
              <a:t>Choose Platform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76047" y="5101986"/>
            <a:ext cx="1376720" cy="15991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41E32"/>
                </a:solidFill>
                <a:latin typeface="Calibri"/>
              </a:rPr>
              <a:t>Select an appropriate blockchain network (public, private, or consortium) based on scalability, security, and governance requirements.</a:t>
            </a:r>
          </a:p>
        </p:txBody>
      </p:sp>
      <p:sp>
        <p:nvSpPr>
          <p:cNvPr id="25" name="Oval 24"/>
          <p:cNvSpPr/>
          <p:nvPr/>
        </p:nvSpPr>
        <p:spPr>
          <a:xfrm>
            <a:off x="4796028" y="3725814"/>
            <a:ext cx="658368" cy="658368"/>
          </a:xfrm>
          <a:prstGeom prst="ellipse">
            <a:avLst/>
          </a:prstGeom>
          <a:solidFill>
            <a:srgbClr val="0A19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4942332" y="3872118"/>
            <a:ext cx="365760" cy="365760"/>
          </a:xfrm>
          <a:prstGeom prst="ellipse">
            <a:avLst/>
          </a:prstGeom>
          <a:solidFill>
            <a:srgbClr val="50FA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924044" y="3840114"/>
            <a:ext cx="4023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60F23"/>
                </a:solidFill>
                <a:latin typeface="Consolas"/>
              </a:rPr>
              <a:t>3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322551" y="1582643"/>
            <a:ext cx="1605320" cy="222089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322551" y="1582643"/>
            <a:ext cx="82296" cy="2220894"/>
          </a:xfrm>
          <a:prstGeom prst="rect">
            <a:avLst/>
          </a:prstGeom>
          <a:solidFill>
            <a:srgbClr val="50FA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487143" y="1674083"/>
            <a:ext cx="13767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A1932"/>
                </a:solidFill>
                <a:latin typeface="Consolas"/>
              </a:rPr>
              <a:t>Develop Smart Contracts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87143" y="2094707"/>
            <a:ext cx="1376720" cy="15991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41E32"/>
                </a:solidFill>
                <a:latin typeface="Calibri"/>
              </a:rPr>
              <a:t>Design and test smart contracts rigorously to automate workflows and ensure security before deployment on the blockchain.</a:t>
            </a:r>
          </a:p>
        </p:txBody>
      </p:sp>
      <p:sp>
        <p:nvSpPr>
          <p:cNvPr id="32" name="Oval 31"/>
          <p:cNvSpPr/>
          <p:nvPr/>
        </p:nvSpPr>
        <p:spPr>
          <a:xfrm>
            <a:off x="6707124" y="3725814"/>
            <a:ext cx="658368" cy="658368"/>
          </a:xfrm>
          <a:prstGeom prst="ellipse">
            <a:avLst/>
          </a:prstGeom>
          <a:solidFill>
            <a:srgbClr val="0A19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853428" y="3872118"/>
            <a:ext cx="365760" cy="365760"/>
          </a:xfrm>
          <a:prstGeom prst="ellipse">
            <a:avLst/>
          </a:prstGeom>
          <a:solidFill>
            <a:srgbClr val="50FA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835140" y="3840114"/>
            <a:ext cx="4023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60F23"/>
                </a:solidFill>
                <a:latin typeface="Consolas"/>
              </a:rPr>
              <a:t>4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008876" y="4352178"/>
            <a:ext cx="54864" cy="237743"/>
          </a:xfrm>
          <a:prstGeom prst="rect">
            <a:avLst/>
          </a:prstGeom>
          <a:solidFill>
            <a:srgbClr val="00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233647" y="4589922"/>
            <a:ext cx="1605320" cy="222089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233647" y="4589922"/>
            <a:ext cx="82296" cy="2220894"/>
          </a:xfrm>
          <a:prstGeom prst="rect">
            <a:avLst/>
          </a:prstGeom>
          <a:solidFill>
            <a:srgbClr val="0A19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398239" y="4681362"/>
            <a:ext cx="13767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A1932"/>
                </a:solidFill>
                <a:latin typeface="Consolas"/>
              </a:rPr>
              <a:t>Integrate Systems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98239" y="5101986"/>
            <a:ext cx="1376720" cy="15991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41E32"/>
                </a:solidFill>
                <a:latin typeface="Calibri"/>
              </a:rPr>
              <a:t>Connect blockchain components with existing IT infrastructure, ensuring data interoperability and seamless process orchestration.</a:t>
            </a:r>
          </a:p>
        </p:txBody>
      </p:sp>
      <p:sp>
        <p:nvSpPr>
          <p:cNvPr id="40" name="Oval 39"/>
          <p:cNvSpPr/>
          <p:nvPr/>
        </p:nvSpPr>
        <p:spPr>
          <a:xfrm>
            <a:off x="8618220" y="3725814"/>
            <a:ext cx="658368" cy="658368"/>
          </a:xfrm>
          <a:prstGeom prst="ellipse">
            <a:avLst/>
          </a:prstGeom>
          <a:solidFill>
            <a:srgbClr val="0A19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8764524" y="3872118"/>
            <a:ext cx="365760" cy="365760"/>
          </a:xfrm>
          <a:prstGeom prst="ellipse">
            <a:avLst/>
          </a:prstGeom>
          <a:solidFill>
            <a:srgbClr val="50FA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746236" y="3840114"/>
            <a:ext cx="4023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60F23"/>
                </a:solidFill>
                <a:latin typeface="Consolas"/>
              </a:rPr>
              <a:t>5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144743" y="1582643"/>
            <a:ext cx="1605320" cy="222089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8144743" y="1582643"/>
            <a:ext cx="82296" cy="2220894"/>
          </a:xfrm>
          <a:prstGeom prst="rect">
            <a:avLst/>
          </a:prstGeom>
          <a:solidFill>
            <a:srgbClr val="00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309335" y="1674083"/>
            <a:ext cx="13767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A1932"/>
                </a:solidFill>
                <a:latin typeface="Consolas"/>
              </a:rPr>
              <a:t>Monitor &amp; Scale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309335" y="2094707"/>
            <a:ext cx="1376720" cy="15991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41E32"/>
                </a:solidFill>
                <a:latin typeface="Calibri"/>
              </a:rPr>
              <a:t>Continuously monitor performance and security, iterating to optimize throughput, user experience, and network participation.</a:t>
            </a:r>
          </a:p>
        </p:txBody>
      </p:sp>
      <p:sp>
        <p:nvSpPr>
          <p:cNvPr id="47" name="Rectangle 46"/>
          <p:cNvSpPr/>
          <p:nvPr/>
        </p:nvSpPr>
        <p:spPr>
          <a:xfrm>
            <a:off x="0" y="6656832"/>
            <a:ext cx="12161520" cy="201168"/>
          </a:xfrm>
          <a:prstGeom prst="rect">
            <a:avLst/>
          </a:prstGeom>
          <a:solidFill>
            <a:srgbClr val="060F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1082528" y="164592"/>
            <a:ext cx="914400" cy="914400"/>
          </a:xfrm>
          <a:prstGeom prst="rect">
            <a:avLst/>
          </a:prstGeom>
          <a:solidFill>
            <a:srgbClr val="FFFFFF"/>
          </a:solidFill>
          <a:ln w="15240">
            <a:solidFill>
              <a:srgbClr val="00C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9" name="Picture 48" descr="downlo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10544" y="292608"/>
            <a:ext cx="658368" cy="658368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F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828800" y="3200400"/>
            <a:ext cx="4572000" cy="4572000"/>
          </a:xfrm>
          <a:prstGeom prst="ellipse">
            <a:avLst/>
          </a:prstGeom>
          <a:solidFill>
            <a:srgbClr val="0A19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418320" y="-1371600"/>
            <a:ext cx="4572000" cy="4572000"/>
          </a:xfrm>
          <a:prstGeom prst="ellipse">
            <a:avLst/>
          </a:prstGeom>
          <a:solidFill>
            <a:srgbClr val="0A19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92608" cy="6858000"/>
          </a:xfrm>
          <a:prstGeom prst="rect">
            <a:avLst/>
          </a:prstGeom>
          <a:solidFill>
            <a:srgbClr val="00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228600"/>
            <a:ext cx="11064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onsolas"/>
              </a:rPr>
              <a:t>Blockchain’s Economic Impact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" y="841248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00C8DC"/>
                </a:solidFill>
                <a:latin typeface="Calibri"/>
              </a:rPr>
              <a:t>Quantifying blockchain’s value creation potential</a:t>
            </a:r>
          </a:p>
        </p:txBody>
      </p:sp>
      <p:sp>
        <p:nvSpPr>
          <p:cNvPr id="7" name="Rectangle 6"/>
          <p:cNvSpPr/>
          <p:nvPr/>
        </p:nvSpPr>
        <p:spPr>
          <a:xfrm>
            <a:off x="475488" y="1325880"/>
            <a:ext cx="4937760" cy="4389120"/>
          </a:xfrm>
          <a:prstGeom prst="rect">
            <a:avLst/>
          </a:prstGeom>
          <a:solidFill>
            <a:srgbClr val="0A19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75488" y="1325880"/>
            <a:ext cx="146304" cy="4389120"/>
          </a:xfrm>
          <a:prstGeom prst="rect">
            <a:avLst/>
          </a:prstGeom>
          <a:solidFill>
            <a:srgbClr val="50FA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463040"/>
            <a:ext cx="466344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800" b="1" i="0">
                <a:solidFill>
                  <a:srgbClr val="50FA7B"/>
                </a:solidFill>
                <a:latin typeface="Consolas"/>
              </a:rPr>
              <a:t>$1.76T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160520"/>
            <a:ext cx="4663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00C8DC"/>
                </a:solidFill>
                <a:latin typeface="Calibri"/>
              </a:rPr>
              <a:t>Global Blockchain Value 2024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0" y="1325880"/>
            <a:ext cx="6172200" cy="4389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669280" y="1325880"/>
            <a:ext cx="118872" cy="4389120"/>
          </a:xfrm>
          <a:prstGeom prst="rect">
            <a:avLst/>
          </a:prstGeom>
          <a:solidFill>
            <a:srgbClr val="50FA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870448" y="1490472"/>
            <a:ext cx="5879592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300" b="1">
                <a:solidFill>
                  <a:srgbClr val="00C8DC"/>
                </a:solidFill>
                <a:latin typeface="Calibri"/>
              </a:rPr>
              <a:t>▸  </a:t>
            </a:r>
            <a:r>
              <a:rPr sz="1500" b="0">
                <a:solidFill>
                  <a:srgbClr val="141E32"/>
                </a:solidFill>
                <a:latin typeface="Calibri"/>
              </a:rPr>
              <a:t>Blockchain technology is projected to contribute $1.76 trillion to the global economy by 2024, driven by efficiencies in finance, supply chains, and digital identity.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300" b="1">
                <a:solidFill>
                  <a:srgbClr val="00C8DC"/>
                </a:solidFill>
                <a:latin typeface="Calibri"/>
              </a:rPr>
              <a:t>▸  </a:t>
            </a:r>
            <a:r>
              <a:rPr sz="1500" b="0">
                <a:solidFill>
                  <a:srgbClr val="141E32"/>
                </a:solidFill>
                <a:latin typeface="Calibri"/>
              </a:rPr>
              <a:t>Financial services remain the largest adopter segment, realizing cost reductions of up to 30% in cross-border payments and settlements through blockchain.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300" b="1">
                <a:solidFill>
                  <a:srgbClr val="00C8DC"/>
                </a:solidFill>
                <a:latin typeface="Calibri"/>
              </a:rPr>
              <a:t>▸  </a:t>
            </a:r>
            <a:r>
              <a:rPr sz="1500" b="0">
                <a:solidFill>
                  <a:srgbClr val="141E32"/>
                </a:solidFill>
                <a:latin typeface="Calibri"/>
              </a:rPr>
              <a:t>Enterprises report average productivity improvements of 20-25% by automating contract management and audit processes via blockchain-based smart contracts.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300" b="1">
                <a:solidFill>
                  <a:srgbClr val="00C8DC"/>
                </a:solidFill>
                <a:latin typeface="Calibri"/>
              </a:rPr>
              <a:t>▸  </a:t>
            </a:r>
            <a:r>
              <a:rPr sz="1500" b="0">
                <a:solidFill>
                  <a:srgbClr val="141E32"/>
                </a:solidFill>
                <a:latin typeface="Calibri"/>
              </a:rPr>
              <a:t>Supply chain implementations reduce counterfeit goods by 40%, leveraging blockchain's immutable tracking capabilities to enhance transparency and trust.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300" b="1">
                <a:solidFill>
                  <a:srgbClr val="00C8DC"/>
                </a:solidFill>
                <a:latin typeface="Calibri"/>
              </a:rPr>
              <a:t>▸  </a:t>
            </a:r>
            <a:r>
              <a:rPr sz="1500" b="0">
                <a:solidFill>
                  <a:srgbClr val="141E32"/>
                </a:solidFill>
                <a:latin typeface="Calibri"/>
              </a:rPr>
              <a:t>Decentralized finance platforms have locked over $150 billion in assets globally, illustrating rapid growth and demand for non-traditional financial services.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656832"/>
            <a:ext cx="12161520" cy="201168"/>
          </a:xfrm>
          <a:prstGeom prst="rect">
            <a:avLst/>
          </a:prstGeom>
          <a:solidFill>
            <a:srgbClr val="060F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082528" y="164592"/>
            <a:ext cx="914400" cy="914400"/>
          </a:xfrm>
          <a:prstGeom prst="rect">
            <a:avLst/>
          </a:prstGeom>
          <a:solidFill>
            <a:srgbClr val="FFFFFF"/>
          </a:solidFill>
          <a:ln w="15240">
            <a:solidFill>
              <a:srgbClr val="00C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downlo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10544" y="292608"/>
            <a:ext cx="658368" cy="658368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060F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61520" cy="128016"/>
          </a:xfrm>
          <a:prstGeom prst="rect">
            <a:avLst/>
          </a:prstGeom>
          <a:solidFill>
            <a:srgbClr val="50FA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29984"/>
            <a:ext cx="12161520" cy="128016"/>
          </a:xfrm>
          <a:prstGeom prst="rect">
            <a:avLst/>
          </a:prstGeom>
          <a:solidFill>
            <a:srgbClr val="00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347472" cy="6858000"/>
          </a:xfrm>
          <a:prstGeom prst="rect">
            <a:avLst/>
          </a:prstGeom>
          <a:solidFill>
            <a:srgbClr val="00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858000" y="-1097280"/>
            <a:ext cx="6400800" cy="6400800"/>
          </a:xfrm>
          <a:prstGeom prst="ellipse">
            <a:avLst/>
          </a:prstGeom>
          <a:solidFill>
            <a:srgbClr val="0A19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138160" y="182880"/>
            <a:ext cx="4114800" cy="4114800"/>
          </a:xfrm>
          <a:prstGeom prst="ellipse">
            <a:avLst/>
          </a:prstGeom>
          <a:solidFill>
            <a:srgbClr val="060F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822960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800" b="1" i="0">
                <a:solidFill>
                  <a:srgbClr val="FFFFFF"/>
                </a:solidFill>
                <a:latin typeface="Consolas"/>
              </a:rPr>
              <a:t>THANK YOU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971800"/>
            <a:ext cx="8229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00C8DC"/>
                </a:solidFill>
                <a:latin typeface="Calibri"/>
              </a:rPr>
              <a:t>Blockchain Technology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8862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482A0"/>
                </a:solidFill>
                <a:latin typeface="Calibri"/>
              </a:rPr>
              <a:t>Powered by AI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826496" y="5577840"/>
            <a:ext cx="1170432" cy="1170432"/>
          </a:xfrm>
          <a:prstGeom prst="rect">
            <a:avLst/>
          </a:prstGeom>
          <a:solidFill>
            <a:srgbClr val="FFFFFF"/>
          </a:solidFill>
          <a:ln w="15240">
            <a:solidFill>
              <a:srgbClr val="00C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downlo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54512" y="5705855"/>
            <a:ext cx="914400" cy="9144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